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702e5080de47ae" /><Relationship Type="http://schemas.openxmlformats.org/officeDocument/2006/relationships/extended-properties" Target="/docProps/app.xml" Id="R56a82955d12d4291" /><Relationship Type="http://schemas.openxmlformats.org/officeDocument/2006/relationships/officeDocument" Target="/ppt/presentation.xml" Id="Rbc09aa6f1eb844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089592a5c94fdd"/>
  </p:sldMasterIdLst>
  <p:notesMasterIdLst>
    <p:notesMasterId xmlns:r="http://schemas.openxmlformats.org/officeDocument/2006/relationships" r:id="R6e278b95f8654fe6"/>
  </p:notesMasterIdLst>
  <p:sldIdLst>
    <p:sldId xmlns:r="http://schemas.openxmlformats.org/officeDocument/2006/relationships" id="256" r:id="Ra3a3e832a6e048f3"/>
    <p:sldId xmlns:r="http://schemas.openxmlformats.org/officeDocument/2006/relationships" id="257" r:id="Re0dfc8eb8fba474a"/>
    <p:sldId xmlns:r="http://schemas.openxmlformats.org/officeDocument/2006/relationships" id="258" r:id="R6a9104523bd24ae0"/>
    <p:sldId xmlns:r="http://schemas.openxmlformats.org/officeDocument/2006/relationships" id="259" r:id="Rf86bcafbe29c4179"/>
    <p:sldId xmlns:r="http://schemas.openxmlformats.org/officeDocument/2006/relationships" id="260" r:id="Ra18db9f46d484a5b"/>
    <p:sldId xmlns:r="http://schemas.openxmlformats.org/officeDocument/2006/relationships" id="261" r:id="R44442eeb7b404e0c"/>
    <p:sldId xmlns:r="http://schemas.openxmlformats.org/officeDocument/2006/relationships" id="262" r:id="Rb1f1c50666f446a7"/>
    <p:sldId xmlns:r="http://schemas.openxmlformats.org/officeDocument/2006/relationships" id="263" r:id="R7eb1ee28ebbb4de1"/>
    <p:sldId xmlns:r="http://schemas.openxmlformats.org/officeDocument/2006/relationships" id="264" r:id="R6c1d1e32a3614ef5"/>
    <p:sldId xmlns:r="http://schemas.openxmlformats.org/officeDocument/2006/relationships" id="265" r:id="R3bdeb10e53bd4762"/>
    <p:sldId xmlns:r="http://schemas.openxmlformats.org/officeDocument/2006/relationships" id="266" r:id="Rc4c292a626d344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1bd4e739544a11" /><Relationship Type="http://schemas.openxmlformats.org/officeDocument/2006/relationships/slideMaster" Target="/ppt/slideMasters/slideMaster1.xml" Id="R30089592a5c94fdd" /><Relationship Type="http://schemas.openxmlformats.org/officeDocument/2006/relationships/notesMaster" Target="/ppt/notesMasters/notesMaster1.xml" Id="R6e278b95f8654fe6" /><Relationship Type="http://schemas.openxmlformats.org/officeDocument/2006/relationships/presProps" Target="/ppt/presProps.xml" Id="Reb1024ae651f4a5a" /><Relationship Type="http://schemas.openxmlformats.org/officeDocument/2006/relationships/tableStyles" Target="/ppt/tableStyles.xml" Id="Rdd84dc41c0164ef7" /><Relationship Type="http://schemas.openxmlformats.org/officeDocument/2006/relationships/slide" Target="/ppt/slides/slide1.xml" Id="Ra3a3e832a6e048f3" /><Relationship Type="http://schemas.openxmlformats.org/officeDocument/2006/relationships/slide" Target="/ppt/slides/slide2.xml" Id="Re0dfc8eb8fba474a" /><Relationship Type="http://schemas.openxmlformats.org/officeDocument/2006/relationships/slide" Target="/ppt/slides/slide3.xml" Id="R6a9104523bd24ae0" /><Relationship Type="http://schemas.openxmlformats.org/officeDocument/2006/relationships/slide" Target="/ppt/slides/slide4.xml" Id="Rf86bcafbe29c4179" /><Relationship Type="http://schemas.openxmlformats.org/officeDocument/2006/relationships/slide" Target="/ppt/slides/slide5.xml" Id="Ra18db9f46d484a5b" /><Relationship Type="http://schemas.openxmlformats.org/officeDocument/2006/relationships/slide" Target="/ppt/slides/slide6.xml" Id="R44442eeb7b404e0c" /><Relationship Type="http://schemas.openxmlformats.org/officeDocument/2006/relationships/slide" Target="/ppt/slides/slide7.xml" Id="Rb1f1c50666f446a7" /><Relationship Type="http://schemas.openxmlformats.org/officeDocument/2006/relationships/slide" Target="/ppt/slides/slide8.xml" Id="R7eb1ee28ebbb4de1" /><Relationship Type="http://schemas.openxmlformats.org/officeDocument/2006/relationships/slide" Target="/ppt/slides/slide9.xml" Id="R6c1d1e32a3614ef5" /><Relationship Type="http://schemas.openxmlformats.org/officeDocument/2006/relationships/slide" Target="/ppt/slides/slide10.xml" Id="R3bdeb10e53bd4762" /><Relationship Type="http://schemas.openxmlformats.org/officeDocument/2006/relationships/slide" Target="/ppt/slides/slide11.xml" Id="Rc4c292a626d344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2cb8ff4b404a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bbc0aff3f14ff1" /><Relationship Type="http://schemas.openxmlformats.org/officeDocument/2006/relationships/notesMaster" Target="/ppt/notesMasters/notesMaster1.xml" Id="R1808aa19dfbf42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8f1957a02e471e" /><Relationship Type="http://schemas.openxmlformats.org/officeDocument/2006/relationships/notesMaster" Target="/ppt/notesMasters/notesMaster1.xml" Id="R4361a4439e8146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a193fbe6024902" /><Relationship Type="http://schemas.openxmlformats.org/officeDocument/2006/relationships/notesMaster" Target="/ppt/notesMasters/notesMaster1.xml" Id="R041a63fbec4d44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66be7257b84630" /><Relationship Type="http://schemas.openxmlformats.org/officeDocument/2006/relationships/notesMaster" Target="/ppt/notesMasters/notesMaster1.xml" Id="R19783e7314904c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9930a669924f1b" /><Relationship Type="http://schemas.openxmlformats.org/officeDocument/2006/relationships/notesMaster" Target="/ppt/notesMasters/notesMaster1.xml" Id="R2ca4539e95a449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668e48304741e3" /><Relationship Type="http://schemas.openxmlformats.org/officeDocument/2006/relationships/notesMaster" Target="/ppt/notesMasters/notesMaster1.xml" Id="R94391359e6f54e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22798f266a4e5f" /><Relationship Type="http://schemas.openxmlformats.org/officeDocument/2006/relationships/notesMaster" Target="/ppt/notesMasters/notesMaster1.xml" Id="Re601f49a4ea8412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4823238866e4d18" /><Relationship Type="http://schemas.openxmlformats.org/officeDocument/2006/relationships/notesMaster" Target="/ppt/notesMasters/notesMaster1.xml" Id="R7d54951bfca943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a2bd59d4e34d5e" /><Relationship Type="http://schemas.openxmlformats.org/officeDocument/2006/relationships/notesMaster" Target="/ppt/notesMasters/notesMaster1.xml" Id="R240cc6f9dff648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f05fa108ef4a9c" /><Relationship Type="http://schemas.openxmlformats.org/officeDocument/2006/relationships/notesMaster" Target="/ppt/notesMasters/notesMaster1.xml" Id="R9c075f30be8a45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20738dea894ac1" /><Relationship Type="http://schemas.openxmlformats.org/officeDocument/2006/relationships/notesMaster" Target="/ppt/notesMasters/notesMaster1.xml" Id="Rd21e1e100a91466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前言：SEO著重以詞與主題建立搜尋引擎理解；GEO則進一步以人與搜尋意圖設計每一頁。維基百科式條目寫法是SEO的加分項，但GEO需要補上情境、限制、差異化與可引用答案。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來源：GEO追蹤_115上課程/01_報表/115上課程_GeoTracking_Report_結果.xlsx、202608_重跑/01_報表/115上課程_GeoTracking_Report_202608_結果.xlsx、202609_重跑/01_報表/115上課程_GeoTracking_Report_202609_結果.xlsx。固定830題。AIO與ChatGPT比較2026/07、08、09。AIO品牌提及率39.0%、42.8%、65.3%，官方網站引用率30.5%、30.5%、57.8%。ChatGPT品牌提及率45.9%、51.3%、74.6%，官方網站引用率31.4%、39.2%、72.2%。Gemini與Perplexity僅用2026/09截面，不宣稱跨月成長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觀察時間：2026/06開始頁面盤點。DataForSEO於2026/07建立830題固定基準，2026/08與09重跑AIO及ChatGPT，2026/09完成四大GenAI競品截面。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6依目標分為兩塊。基礎建設以搜尋收錄網址增加與自然搜尋進站增加為主要成果。GEO以83個商品頁為母體，每一個商品依目標族群設計10個queries，使用共用的10個搜尋意圖切角，合計830個queries。主要觀測品牌提及度與官網引用比例，官網定義為該網域下所有網址。另觀測競爭品牌，用來推論Google AIO、ChatGPT、Gemini與Perplexity的引用原則，以及各家偏好的內容與資料結構。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DataForSEO固定830題。AIO與ChatGPT有2026/07、08、09三期可比資料。Gemini與Perplexity使用2026/09截面，僅用於競品位置比較。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O資料來源：半年GSC收錄與曝光_202603-09.xlsx。6月收錄基準包含部分掃描，故+178%標註限制；單一課程頁曝光僅比較2026/06至08。DataForSEO來源同成果頁，固定830題。ChatGPT品牌提及率2026/07至09增加28.7個百分點，官方網站引用率增加40.8個百分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百分點範例使用DataForSEO ChatGPT官方網站引用率。2026/07為31.4%，2026/09為72.2%。相差40.8個百分點，相對成長約130%。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d757308e2447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74ecb400dc4609" /><Relationship Type="http://schemas.openxmlformats.org/officeDocument/2006/relationships/slideLayout" Target="/ppt/slideLayouts/slideLayout1.xml" Id="Rd9a72ecb1d7d45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9a72ecb1d7d45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21373fb4b4907" /><Relationship Type="http://schemas.openxmlformats.org/officeDocument/2006/relationships/notesSlide" Target="/ppt/notesSlides/notesSlide1.xml" Id="R0d5f830328134b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ba8276a114710" /><Relationship Type="http://schemas.openxmlformats.org/officeDocument/2006/relationships/notesSlide" Target="/ppt/notesSlides/notesSlide2.xml" Id="R35cdb5563f8747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f3dfedd7f4266" /><Relationship Type="http://schemas.openxmlformats.org/officeDocument/2006/relationships/notesSlide" Target="/ppt/notesSlides/notesSlide3.xml" Id="Rf77e53a94ae04e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93f6e7fd54802" /><Relationship Type="http://schemas.openxmlformats.org/officeDocument/2006/relationships/notesSlide" Target="/ppt/notesSlides/notesSlide4.xml" Id="Rad7add89b96b41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9a7086b3ab4dbb" /><Relationship Type="http://schemas.openxmlformats.org/officeDocument/2006/relationships/notesSlide" Target="/ppt/notesSlides/notesSlide5.xml" Id="Rbcf580f87d9d46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a91fb992c4f60" /><Relationship Type="http://schemas.openxmlformats.org/officeDocument/2006/relationships/notesSlide" Target="/ppt/notesSlides/notesSlide6.xml" Id="Rb243505bd50144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9e521d55d4bbd" /><Relationship Type="http://schemas.openxmlformats.org/officeDocument/2006/relationships/notesSlide" Target="/ppt/notesSlides/notesSlide7.xml" Id="R774093b82d114f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24c818b5a4435" /><Relationship Type="http://schemas.openxmlformats.org/officeDocument/2006/relationships/notesSlide" Target="/ppt/notesSlides/notesSlide8.xml" Id="R9a3410cad18a4cd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ab180b1884534" /><Relationship Type="http://schemas.openxmlformats.org/officeDocument/2006/relationships/notesSlide" Target="/ppt/notesSlides/notesSlide9.xml" Id="R1845a8e5ffd540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7c7822f1347b8" /><Relationship Type="http://schemas.openxmlformats.org/officeDocument/2006/relationships/notesSlide" Target="/ppt/notesSlides/notesSlide10.xml" Id="R37325be991924c7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794feaa164f57" /><Relationship Type="http://schemas.openxmlformats.org/officeDocument/2006/relationships/notesSlide" Target="/ppt/notesSlides/notesSlide11.xml" Id="R0bdca5845fe849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78115C-886E-4A93-85E4-C2F925A9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5E446-6706-4321-9AA8-8526D4D3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57250"/>
            <a:ext cx="76200" cy="457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B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9E5FC-7A1D-432F-8BF0-F5F230D7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953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5D7EB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75D7EB"/>
                </a:solidFill>
                <a:latin typeface="Noto Sans TC"/>
                <a:ea typeface="Noto Sans TC"/>
                <a:cs typeface="Noto Sans TC"/>
              </a:rPr>
              <a:t>PUBLIC CASE STUDY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6BE9B-4535-4FC7-A9C9-B7E1B40F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42875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6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SEO × GEO 成長工作流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0B3CF-8845-4024-AB90-35ACFE56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D8E8F4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0">
                <a:solidFill>
                  <a:srgbClr val="D8E8F4"/>
                </a:solidFill>
                <a:latin typeface="Noto Sans TC"/>
                <a:ea typeface="Noto Sans TC"/>
                <a:cs typeface="Noto Sans TC"/>
              </a:rPr>
              <a:t>如何把技術修正、內容改善與AI引用，變成可重跑的成效驗證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4DABF-75D0-4BA3-93CF-9D54A037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1543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9525">
            <a:solidFill>
              <a:srgbClr val="2C6E9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24143-EAAC-4A6B-946F-BACDF393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固定樣本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103D8-1592-47AD-8A5A-0676A92D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1543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4F7B"/>
          </a:solidFill>
          <a:ln xmlns:a="http://schemas.openxmlformats.org/drawingml/2006/main" w="9525">
            <a:solidFill>
              <a:srgbClr val="2C6E9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8B3CB6-A768-49EC-B8A7-69F6F8DA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337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分層指標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E165A-64AB-4BEC-AF82-B42A931F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1543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4F7B"/>
          </a:solidFill>
          <a:ln xmlns:a="http://schemas.openxmlformats.org/drawingml/2006/main" w="9525">
            <a:solidFill>
              <a:srgbClr val="2C6E9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CF6556-AAAA-44EA-A54F-BE40A3D2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通過條件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CF5D86-5EEE-42C2-9EF0-51803154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1543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24F7B"/>
          </a:solidFill>
          <a:ln xmlns:a="http://schemas.openxmlformats.org/drawingml/2006/main" w="9525">
            <a:solidFill>
              <a:srgbClr val="2C6E9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AF7F4-BDB3-4DE8-AB6E-DCC7CCE20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1543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月度重跑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ACB6A8-4C3F-4261-B5E1-91987150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7DBEA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C7DBEA"/>
                </a:solidFill>
                <a:latin typeface="Noto Sans TC"/>
                <a:ea typeface="Noto Sans TC"/>
                <a:cs typeface="Noto Sans TC"/>
              </a:rPr>
              <a:t>匿名K–12線上教育案例｜2026/06開始觀察｜DataForSEO最終快照 2026/09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DE8F2F-980E-4F43-A5FA-77510315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626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5D7E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75D7EB"/>
                </a:solidFill>
                <a:latin typeface="Noto Sans TC"/>
                <a:ea typeface="Noto Sans TC"/>
                <a:cs typeface="Noto Sans TC"/>
              </a:rPr>
              <a:t>可公開分享版本</a:t>
            </a:r>
          </a:p>
        </p:txBody>
      </p:sp>
    </p:spTree>
    <p:extLst>
      <p:ext uri="{BB962C8B-B14F-4D97-AF65-F5344CB8AC3E}">
        <p14:creationId xmlns:p14="http://schemas.microsoft.com/office/powerpoint/2010/main" val="15931102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reface-kicker">
            <a:extLst xmlns:a="http://schemas.openxmlformats.org/drawingml/2006/main">
              <a:ext uri="{FF2B5EF4-FFF2-40B4-BE49-F238E27FC236}">
                <a16:creationId xmlns:a16="http://schemas.microsoft.com/office/drawing/2014/main" id="{C78B696F-44B7-4975-A2FD-4BE678970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9560"/>
            <a:ext cx="27432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2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E82C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E82CF"/>
                </a:solidFill>
                <a:latin typeface="Noto Sans TC"/>
                <a:ea typeface="Noto Sans TC"/>
                <a:cs typeface="Noto Sans TC"/>
              </a:rPr>
              <a:t>00｜PREFACE</a:t>
            </a:r>
          </a:p>
        </p:txBody>
      </p:sp>
      <p:sp>
        <p:nvSpPr>
          <p:cNvPr id="2" name="preface-title">
            <a:extLst xmlns:a="http://schemas.openxmlformats.org/drawingml/2006/main">
              <a:ext uri="{FF2B5EF4-FFF2-40B4-BE49-F238E27FC236}">
                <a16:creationId xmlns:a16="http://schemas.microsoft.com/office/drawing/2014/main" id="{976A7A2C-9826-4ECC-A4F8-C60F8D37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70560"/>
            <a:ext cx="109728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73B63"/>
                </a:solidFill>
                <a:latin typeface="Noto Sans TC"/>
                <a:ea typeface="Noto Sans TC"/>
                <a:cs typeface="Noto Sans TC"/>
              </a:defRPr>
            </a:pPr>
            <a:r>
              <a:rPr sz="3150" b="1">
                <a:solidFill>
                  <a:srgbClr val="073B63"/>
                </a:solidFill>
                <a:latin typeface="Noto Sans TC"/>
                <a:ea typeface="Noto Sans TC"/>
                <a:cs typeface="Noto Sans TC"/>
              </a:rPr>
              <a:t>SEO以「詞」為主，GEO以「人」為主</a:t>
            </a:r>
          </a:p>
        </p:txBody>
      </p:sp>
      <p:sp>
        <p:nvSpPr>
          <p:cNvPr id="3" name="preface-subtitle">
            <a:extLst xmlns:a="http://schemas.openxmlformats.org/drawingml/2006/main">
              <a:ext uri="{FF2B5EF4-FFF2-40B4-BE49-F238E27FC236}">
                <a16:creationId xmlns:a16="http://schemas.microsoft.com/office/drawing/2014/main" id="{C56C8B94-A11E-4E24-B4E8-9B483456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49680"/>
            <a:ext cx="108966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A7D92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0">
                <a:solidFill>
                  <a:srgbClr val="6A7D92"/>
                </a:solidFill>
                <a:latin typeface="Noto Sans TC"/>
                <a:ea typeface="Noto Sans TC"/>
                <a:cs typeface="Noto Sans TC"/>
              </a:rPr>
              <a:t>搜尋引擎需要辨識主題；生成式AI還要理解使用者此刻想解決什麼問題。</a:t>
            </a:r>
          </a:p>
        </p:txBody>
      </p:sp>
      <p:sp>
        <p:nvSpPr>
          <p:cNvPr id="4" name="seo-panel">
            <a:extLst xmlns:a="http://schemas.openxmlformats.org/drawingml/2006/main">
              <a:ext uri="{FF2B5EF4-FFF2-40B4-BE49-F238E27FC236}">
                <a16:creationId xmlns:a16="http://schemas.microsoft.com/office/drawing/2014/main" id="{950877AE-655B-4641-A693-80CAC92F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533400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CFE1EF"/>
            </a:solidFill>
          </a:ln>
        </p:spPr>
      </p:sp>
      <p:sp>
        <p:nvSpPr>
          <p:cNvPr id="5" name="seo-accent">
            <a:extLst xmlns:a="http://schemas.openxmlformats.org/drawingml/2006/main">
              <a:ext uri="{FF2B5EF4-FFF2-40B4-BE49-F238E27FC236}">
                <a16:creationId xmlns:a16="http://schemas.microsoft.com/office/drawing/2014/main" id="{0F385D71-02EA-4267-81F3-63205CC2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5334000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2CF"/>
          </a:solidFill>
          <a:ln xmlns:a="http://schemas.openxmlformats.org/drawingml/2006/main" w="0">
            <a:noFill/>
          </a:ln>
        </p:spPr>
      </p:sp>
      <p:sp>
        <p:nvSpPr>
          <p:cNvPr id="6" name="seo-heading">
            <a:extLst xmlns:a="http://schemas.openxmlformats.org/drawingml/2006/main">
              <a:ext uri="{FF2B5EF4-FFF2-40B4-BE49-F238E27FC236}">
                <a16:creationId xmlns:a16="http://schemas.microsoft.com/office/drawing/2014/main" id="{45BEB996-0DAE-45C8-A45A-C36CDBD9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7264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356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73B63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73B63"/>
                </a:solidFill>
                <a:latin typeface="Noto Sans TC"/>
                <a:ea typeface="Noto Sans TC"/>
                <a:cs typeface="Noto Sans TC"/>
              </a:rPr>
              <a:t>SEO｜內容單位是「詞」</a:t>
            </a:r>
          </a:p>
        </p:txBody>
      </p:sp>
      <p:sp>
        <p:nvSpPr>
          <p:cNvPr id="7" name="seo-lead">
            <a:extLst xmlns:a="http://schemas.openxmlformats.org/drawingml/2006/main">
              <a:ext uri="{FF2B5EF4-FFF2-40B4-BE49-F238E27FC236}">
                <a16:creationId xmlns:a16="http://schemas.microsoft.com/office/drawing/2014/main" id="{1258F82C-A1B5-4ED4-8010-A831293C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06040"/>
            <a:ext cx="472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E82CF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0E82CF"/>
                </a:solidFill>
                <a:latin typeface="Noto Sans TC"/>
                <a:ea typeface="Noto Sans TC"/>
                <a:cs typeface="Noto Sans TC"/>
              </a:rPr>
              <a:t>把一個主題說完整</a:t>
            </a:r>
          </a:p>
        </p:txBody>
      </p:sp>
      <p:sp>
        <p:nvSpPr>
          <p:cNvPr id="8" name="seo-body-1">
            <a:extLst xmlns:a="http://schemas.openxmlformats.org/drawingml/2006/main">
              <a:ext uri="{FF2B5EF4-FFF2-40B4-BE49-F238E27FC236}">
                <a16:creationId xmlns:a16="http://schemas.microsoft.com/office/drawing/2014/main" id="{0A33399D-D0BB-45F2-A8AD-994E8421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86100"/>
            <a:ext cx="4648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2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84D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24384D"/>
                </a:solidFill>
                <a:latin typeface="Noto Sans TC"/>
                <a:ea typeface="Noto Sans TC"/>
                <a:cs typeface="Noto Sans TC"/>
              </a:rPr>
              <a:t>清楚定義、分層標題，並建立相關概念與實體關係。</a:t>
            </a:r>
          </a:p>
        </p:txBody>
      </p:sp>
      <p:sp>
        <p:nvSpPr>
          <p:cNvPr id="9" name="seo-body-2">
            <a:extLst xmlns:a="http://schemas.openxmlformats.org/drawingml/2006/main">
              <a:ext uri="{FF2B5EF4-FFF2-40B4-BE49-F238E27FC236}">
                <a16:creationId xmlns:a16="http://schemas.microsoft.com/office/drawing/2014/main" id="{A7771AC5-FF92-4A3E-8E28-025C2D92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49040"/>
            <a:ext cx="46482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84D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24384D"/>
                </a:solidFill>
                <a:latin typeface="Noto Sans TC"/>
                <a:ea typeface="Noto Sans TC"/>
                <a:cs typeface="Noto Sans TC"/>
              </a:rPr>
              <a:t>類似維基百科條目的寫法，有助於搜尋引擎建立主題理解。</a:t>
            </a:r>
          </a:p>
        </p:txBody>
      </p:sp>
      <p:sp>
        <p:nvSpPr>
          <p:cNvPr id="10" name="seo-question-box">
            <a:extLst xmlns:a="http://schemas.openxmlformats.org/drawingml/2006/main">
              <a:ext uri="{FF2B5EF4-FFF2-40B4-BE49-F238E27FC236}">
                <a16:creationId xmlns:a16="http://schemas.microsoft.com/office/drawing/2014/main" id="{A8E37B8B-A2A3-447A-BF67-D4BC286D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541520"/>
            <a:ext cx="4648200" cy="41148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</a:ln>
        </p:spPr>
      </p:sp>
      <p:sp>
        <p:nvSpPr>
          <p:cNvPr id="11" name="seo-question">
            <a:extLst xmlns:a="http://schemas.openxmlformats.org/drawingml/2006/main">
              <a:ext uri="{FF2B5EF4-FFF2-40B4-BE49-F238E27FC236}">
                <a16:creationId xmlns:a16="http://schemas.microsoft.com/office/drawing/2014/main" id="{DCBAB351-4150-4D37-BC66-99FA7668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94860"/>
            <a:ext cx="428244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3B6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073B63"/>
                </a:solidFill>
                <a:latin typeface="Noto Sans TC"/>
                <a:ea typeface="Noto Sans TC"/>
                <a:cs typeface="Noto Sans TC"/>
              </a:rPr>
              <a:t>核心問題：這一頁要承接哪一組搜尋詞？</a:t>
            </a:r>
          </a:p>
        </p:txBody>
      </p:sp>
      <p:sp>
        <p:nvSpPr>
          <p:cNvPr id="12" name="geo-panel">
            <a:extLst xmlns:a="http://schemas.openxmlformats.org/drawingml/2006/main">
              <a:ext uri="{FF2B5EF4-FFF2-40B4-BE49-F238E27FC236}">
                <a16:creationId xmlns:a16="http://schemas.microsoft.com/office/drawing/2014/main" id="{7470B68F-4D09-47F4-83FC-E826C687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28800"/>
            <a:ext cx="533400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CFE1EF"/>
            </a:solidFill>
          </a:ln>
        </p:spPr>
      </p:sp>
      <p:sp>
        <p:nvSpPr>
          <p:cNvPr id="13" name="geo-accent">
            <a:extLst xmlns:a="http://schemas.openxmlformats.org/drawingml/2006/main">
              <a:ext uri="{FF2B5EF4-FFF2-40B4-BE49-F238E27FC236}">
                <a16:creationId xmlns:a16="http://schemas.microsoft.com/office/drawing/2014/main" id="{A34DC65E-93E0-4853-8177-2ABCCC61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28800"/>
            <a:ext cx="5334000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9D83"/>
          </a:solidFill>
          <a:ln xmlns:a="http://schemas.openxmlformats.org/drawingml/2006/main" w="0">
            <a:noFill/>
          </a:ln>
        </p:spPr>
      </p:sp>
      <p:sp>
        <p:nvSpPr>
          <p:cNvPr id="14" name="geo-heading">
            <a:extLst xmlns:a="http://schemas.openxmlformats.org/drawingml/2006/main">
              <a:ext uri="{FF2B5EF4-FFF2-40B4-BE49-F238E27FC236}">
                <a16:creationId xmlns:a16="http://schemas.microsoft.com/office/drawing/2014/main" id="{8B620D46-C1FD-4E16-9CE0-44FCCC08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207264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356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73B63"/>
                </a:solidFill>
                <a:latin typeface="Noto Sans TC"/>
                <a:ea typeface="Noto Sans TC"/>
                <a:cs typeface="Noto Sans TC"/>
              </a:defRPr>
            </a:pPr>
            <a:r>
              <a:rPr sz="2175" b="1">
                <a:solidFill>
                  <a:srgbClr val="073B63"/>
                </a:solidFill>
                <a:latin typeface="Noto Sans TC"/>
                <a:ea typeface="Noto Sans TC"/>
                <a:cs typeface="Noto Sans TC"/>
              </a:rPr>
              <a:t>GEO｜內容單位是「人」</a:t>
            </a:r>
          </a:p>
        </p:txBody>
      </p:sp>
      <p:sp>
        <p:nvSpPr>
          <p:cNvPr id="15" name="geo-lead">
            <a:extLst xmlns:a="http://schemas.openxmlformats.org/drawingml/2006/main">
              <a:ext uri="{FF2B5EF4-FFF2-40B4-BE49-F238E27FC236}">
                <a16:creationId xmlns:a16="http://schemas.microsoft.com/office/drawing/2014/main" id="{6FF7A3FE-DEA3-4A90-886A-26FA1655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2606040"/>
            <a:ext cx="472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39D83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39D83"/>
                </a:solidFill>
                <a:latin typeface="Noto Sans TC"/>
                <a:ea typeface="Noto Sans TC"/>
                <a:cs typeface="Noto Sans TC"/>
              </a:rPr>
              <a:t>先理解誰在問、為什麼問</a:t>
            </a:r>
          </a:p>
        </p:txBody>
      </p:sp>
      <p:sp>
        <p:nvSpPr>
          <p:cNvPr id="16" name="geo-body-1">
            <a:extLst xmlns:a="http://schemas.openxmlformats.org/drawingml/2006/main">
              <a:ext uri="{FF2B5EF4-FFF2-40B4-BE49-F238E27FC236}">
                <a16:creationId xmlns:a16="http://schemas.microsoft.com/office/drawing/2014/main" id="{E3784E47-7337-4DA7-AA0B-FBD9F9D1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3086100"/>
            <a:ext cx="4648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84D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24384D"/>
                </a:solidFill>
                <a:latin typeface="Noto Sans TC"/>
                <a:ea typeface="Noto Sans TC"/>
                <a:cs typeface="Noto Sans TC"/>
              </a:rPr>
              <a:t>依使用情境、限制條件與決策需求，直接回答真正的問題。</a:t>
            </a:r>
          </a:p>
        </p:txBody>
      </p:sp>
      <p:sp>
        <p:nvSpPr>
          <p:cNvPr id="17" name="geo-body-2">
            <a:extLst xmlns:a="http://schemas.openxmlformats.org/drawingml/2006/main">
              <a:ext uri="{FF2B5EF4-FFF2-40B4-BE49-F238E27FC236}">
                <a16:creationId xmlns:a16="http://schemas.microsoft.com/office/drawing/2014/main" id="{891803F8-2B33-46B9-9314-036E5DE7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3749040"/>
            <a:ext cx="46482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24384D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0">
                <a:solidFill>
                  <a:srgbClr val="24384D"/>
                </a:solidFill>
                <a:latin typeface="Noto Sans TC"/>
                <a:ea typeface="Noto Sans TC"/>
                <a:cs typeface="Noto Sans TC"/>
              </a:rPr>
              <a:t>同一商品要對應不同搜尋意圖，讓AI能選到最合適的頁面。</a:t>
            </a:r>
          </a:p>
        </p:txBody>
      </p:sp>
      <p:sp>
        <p:nvSpPr>
          <p:cNvPr id="18" name="geo-question-box">
            <a:extLst xmlns:a="http://schemas.openxmlformats.org/drawingml/2006/main">
              <a:ext uri="{FF2B5EF4-FFF2-40B4-BE49-F238E27FC236}">
                <a16:creationId xmlns:a16="http://schemas.microsoft.com/office/drawing/2014/main" id="{E0BBC181-2DA9-4F61-A68E-012EC19F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8440" y="4541520"/>
            <a:ext cx="4648200" cy="41148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</a:ln>
        </p:spPr>
      </p:sp>
      <p:sp>
        <p:nvSpPr>
          <p:cNvPr id="19" name="geo-question">
            <a:extLst xmlns:a="http://schemas.openxmlformats.org/drawingml/2006/main">
              <a:ext uri="{FF2B5EF4-FFF2-40B4-BE49-F238E27FC236}">
                <a16:creationId xmlns:a16="http://schemas.microsoft.com/office/drawing/2014/main" id="{1F566C55-DE48-4ED5-9D05-872E56AC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1320" y="4594860"/>
            <a:ext cx="428244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3B6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073B63"/>
                </a:solidFill>
                <a:latin typeface="Noto Sans TC"/>
                <a:ea typeface="Noto Sans TC"/>
                <a:cs typeface="Noto Sans TC"/>
              </a:rPr>
              <a:t>核心問題：這一頁要替哪一種人解決什麼？</a:t>
            </a:r>
          </a:p>
        </p:txBody>
      </p:sp>
      <p:sp>
        <p:nvSpPr>
          <p:cNvPr id="20" name="preface-conclusion-box">
            <a:extLst xmlns:a="http://schemas.openxmlformats.org/drawingml/2006/main">
              <a:ext uri="{FF2B5EF4-FFF2-40B4-BE49-F238E27FC236}">
                <a16:creationId xmlns:a16="http://schemas.microsoft.com/office/drawing/2014/main" id="{55861790-20FA-4F9F-9BF1-3AFED67B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86400"/>
            <a:ext cx="111252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73B63"/>
          </a:solidFill>
          <a:ln xmlns:a="http://schemas.openxmlformats.org/drawingml/2006/main" w="0">
            <a:noFill/>
          </a:ln>
        </p:spPr>
      </p:sp>
      <p:sp>
        <p:nvSpPr>
          <p:cNvPr id="21" name="preface-conclusion">
            <a:extLst xmlns:a="http://schemas.openxmlformats.org/drawingml/2006/main">
              <a:ext uri="{FF2B5EF4-FFF2-40B4-BE49-F238E27FC236}">
                <a16:creationId xmlns:a16="http://schemas.microsoft.com/office/drawing/2014/main" id="{3FFB2926-DF5E-4FD5-95E1-5F35A47B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93080"/>
            <a:ext cx="10515600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網站規劃要從「這頁要排哪個詞」進一步變成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8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「這頁要替哪一種人，回答哪一個問題」</a:t>
            </a:r>
          </a:p>
        </p:txBody>
      </p:sp>
      <p:sp>
        <p:nvSpPr>
          <p:cNvPr id="22" name="footer-left">
            <a:extLst xmlns:a="http://schemas.openxmlformats.org/drawingml/2006/main">
              <a:ext uri="{FF2B5EF4-FFF2-40B4-BE49-F238E27FC236}">
                <a16:creationId xmlns:a16="http://schemas.microsoft.com/office/drawing/2014/main" id="{33D3197A-9CDD-421B-A802-1FE02630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2240"/>
            <a:ext cx="396240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A7D9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A7D92"/>
                </a:solidFill>
                <a:latin typeface="Noto Sans TC"/>
                <a:ea typeface="Noto Sans TC"/>
                <a:cs typeface="Noto Sans TC"/>
              </a:rPr>
              <a:t>SEO × GEO growth workflow｜anonymized case</a:t>
            </a:r>
          </a:p>
        </p:txBody>
      </p:sp>
      <p:sp>
        <p:nvSpPr>
          <p:cNvPr id="23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B1DFE64-F865-4523-9623-9AB7695A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492240"/>
            <a:ext cx="266700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5555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A7D9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A7D92"/>
                </a:solidFill>
                <a:latin typeface="Noto Sans TC"/>
                <a:ea typeface="Noto Sans TC"/>
                <a:cs typeface="Noto Sans TC"/>
              </a:rPr>
              <a:t>公開分享版｜搜尋意圖優先</a:t>
            </a:r>
          </a:p>
        </p:txBody>
      </p:sp>
    </p:spTree>
    <p:extLst>
      <p:ext uri="{BB962C8B-B14F-4D97-AF65-F5344CB8AC3E}">
        <p14:creationId xmlns:p14="http://schemas.microsoft.com/office/powerpoint/2010/main" val="142527052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92FC0D-A571-4858-B1FC-8312343D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2D2C0-D191-43B0-9C10-A0A5E5E2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01｜OBSERVED GROWTH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04A19F-2D30-4DDA-8299-EE5D7E15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最終結果：四項AI能見度指標明顯成長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FF6EA0-7AAA-4403-8132-F47A41E6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286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607286"/>
                </a:solidFill>
                <a:latin typeface="Noto Sans TC"/>
                <a:ea typeface="Noto Sans TC"/>
                <a:cs typeface="Noto Sans TC"/>
              </a:rPr>
              <a:t>2026/06開始觀察。固定830題於7月建立基準，9月完成DataForSEO最終重跑。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07F2F-A3A8-4063-9857-EA30384B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defRPr>
            </a:pPr>
            <a:r>
              <a: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rPr>
              <a:t>SEO × GEO growth workflow｜anonymized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BB674-9509-427D-991C-4FED2163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77000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defRPr>
            </a:pPr>
            <a:r>
              <a: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rPr>
              <a:t>資料截至2026/09｜百分點經四捨五入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A1142-BFDA-40A5-AD29-3C6440F5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5336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73B66"/>
          </a:solidFill>
          <a:ln xmlns:a="http://schemas.openxmlformats.org/drawingml/2006/main" w="9525">
            <a:solidFill>
              <a:srgbClr val="073B6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676D6-8DA3-41F4-97D5-6C17E5A9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+26.3pp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37F49-403E-4DA0-9E5D-4AE80EAA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03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AIO品牌提及率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4422D0-E685-4C7D-ADC2-1603117B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CDE3F3"/>
                </a:solidFill>
                <a:latin typeface="Noto Sans TC"/>
                <a:ea typeface="Noto Sans TC"/>
                <a:cs typeface="Noto Sans TC"/>
              </a:defRPr>
            </a:pPr>
            <a:r>
              <a:rPr sz="1013" b="0">
                <a:solidFill>
                  <a:srgbClr val="CDE3F3"/>
                </a:solidFill>
                <a:latin typeface="Noto Sans TC"/>
                <a:ea typeface="Noto Sans TC"/>
                <a:cs typeface="Noto Sans TC"/>
              </a:rPr>
              <a:t>7月39.0%　8月42.8%　9月65.3%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2C16F-169B-4855-80F4-38126805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5336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49583-BFAA-47EB-A454-ADB951DA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3835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+27.3pp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09C636-9186-4BBE-AE19-29D878B6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003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AIO官方網站引用率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38D962-CDE4-429A-A76A-5D60F97E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480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07286"/>
                </a:solidFill>
                <a:latin typeface="Noto Sans TC"/>
                <a:ea typeface="Noto Sans TC"/>
                <a:cs typeface="Noto Sans TC"/>
              </a:defRPr>
            </a:pPr>
            <a:r>
              <a:rPr sz="1013" b="0">
                <a:solidFill>
                  <a:srgbClr val="607286"/>
                </a:solidFill>
                <a:latin typeface="Noto Sans TC"/>
                <a:ea typeface="Noto Sans TC"/>
                <a:cs typeface="Noto Sans TC"/>
              </a:rPr>
              <a:t>7月30.5%　8月30.5%　9月57.8%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0895D-F69F-4197-A5F1-B72C5908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9750"/>
            <a:ext cx="25336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0E5ACF-246C-4564-8AFF-F45AAB43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3835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+28.7pp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049EC4-DD8A-48C2-AFC4-7C9F719D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003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ChatGPT品牌提及率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08A2F8-B9B8-484E-B81A-64750725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480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07286"/>
                </a:solidFill>
                <a:latin typeface="Noto Sans TC"/>
                <a:ea typeface="Noto Sans TC"/>
                <a:cs typeface="Noto Sans TC"/>
              </a:defRPr>
            </a:pPr>
            <a:r>
              <a:rPr sz="1013" b="0">
                <a:solidFill>
                  <a:srgbClr val="607286"/>
                </a:solidFill>
                <a:latin typeface="Noto Sans TC"/>
                <a:ea typeface="Noto Sans TC"/>
                <a:cs typeface="Noto Sans TC"/>
              </a:rPr>
              <a:t>7月45.9%　8月51.3%　9月74.6%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847629-498D-4F75-AFDE-5BA215009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09750"/>
            <a:ext cx="25336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C7913C-D581-4535-93CF-0240E209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38350"/>
            <a:ext cx="2114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+40.8pp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BDA362-4369-445A-A5C7-A6C6D2A9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00350"/>
            <a:ext cx="2114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6613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ChatGPT官方網站引用率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E52A36-A28E-4AA7-ABDC-AA36298A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48050"/>
            <a:ext cx="2114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607286"/>
                </a:solidFill>
                <a:latin typeface="Noto Sans TC"/>
                <a:ea typeface="Noto Sans TC"/>
                <a:cs typeface="Noto Sans TC"/>
              </a:defRPr>
            </a:pPr>
            <a:r>
              <a:rPr sz="1013" b="0">
                <a:solidFill>
                  <a:srgbClr val="607286"/>
                </a:solidFill>
                <a:latin typeface="Noto Sans TC"/>
                <a:ea typeface="Noto Sans TC"/>
                <a:cs typeface="Noto Sans TC"/>
              </a:rPr>
              <a:t>7月31.4%　8月39.2%　9月72.2%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421D99-00DA-47E3-A03C-3CCC528A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112520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2CD3E2-2B19-4BBD-B3A3-621DA8ED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觀察節點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060688-5735-4A25-8FB2-E9A83786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6489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6月　頁面盤點與搜尋意圖標註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7月　固定830題基準　　8月　AIO／ChatGPT第一次重跑</a:t>
            </a:r>
          </a:p>
          <a:p xmlns:a="http://schemas.openxmlformats.org/drawingml/2006/main">
            <a:pPr algn="l">
              <a:buNone/>
              <a:defRPr sz="123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9月　AIO／ChatGPT最終重跑，完成四引擎競品截面</a:t>
            </a:r>
          </a:p>
        </p:txBody>
      </p:sp>
    </p:spTree>
    <p:extLst>
      <p:ext uri="{BB962C8B-B14F-4D97-AF65-F5344CB8AC3E}">
        <p14:creationId xmlns:p14="http://schemas.microsoft.com/office/powerpoint/2010/main" val="3834145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DAECCC-4FC1-4E89-9B24-B76AED6E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FAD1A7-E203-4CB4-9966-761AFD80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02｜THE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27AFA-B020-4BB7-9510-F1AC345B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把SEO／GEO拆成六個可驗收階段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DA6F3-F2F8-4241-A1FF-35E14BA0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286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607286"/>
                </a:solidFill>
                <a:latin typeface="Noto Sans TC"/>
                <a:ea typeface="Noto Sans TC"/>
                <a:cs typeface="Noto Sans TC"/>
              </a:rPr>
              <a:t>2026/06開始盤點，7月建立固定題組，9月完成DataForSEO最終快照。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52E438-97BF-4489-AA23-1EBD7E06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defRPr>
            </a:pPr>
            <a:r>
              <a: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rPr>
              <a:t>SEO × GEO growth workflow｜anonymized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AB0F8-2A66-45F9-90F4-ED3B8CCB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77000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defRPr>
            </a:pPr>
            <a:r>
              <a: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rPr>
              <a:t>公開分享版｜百分比經四捨五入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E3689-DAE9-48D9-86A2-AC1DA693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619250" cy="2381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F0658-3875-4E42-9381-112CD8DA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4702C3-6EA9-4DFB-81A5-46FC985A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AB05A-C5A4-429F-8427-23399D78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盤點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52CA5-315C-4946-ABA9-39EDA5D4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276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固定URL與頁型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標註搜尋意圖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B890B2-5706-4F01-A2F6-324F1070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051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643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BB6D6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3BB6D6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930CE-F9E4-4514-A22A-AD01B459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0250"/>
            <a:ext cx="1619250" cy="2381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73E47-EC36-4124-AA6D-2530CB35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71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9D3849-C3FE-49FC-8F2B-59510AF9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71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AF94DE-0D0C-471D-ACDD-13313314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2415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AI競品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D05E04-F324-4C13-8C3C-AC6B0A7D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38500"/>
            <a:ext cx="1276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DataForSEO抓取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四大GenAI答案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E20F0D-D19F-4C38-B75F-3F9CAF44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051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643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BB6D6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3BB6D6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67ACDD-2753-43E0-8153-13ECAC53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00250"/>
            <a:ext cx="1619250" cy="2381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97EE1-CE30-4C21-90E8-89AE55AA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71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998EDC-5C81-41F6-AB28-0E983526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71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D479B-43DE-4445-9E97-443F0BD7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2415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技術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BAE154-193D-471F-A20C-76962643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38500"/>
            <a:ext cx="1276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sitemap／canonical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渲染與索引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6AFE86-1FDD-4262-900A-817800DE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051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643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BB6D6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3BB6D6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12FD45-3218-43E9-8421-F03C1BA3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00250"/>
            <a:ext cx="1619250" cy="2381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C9E8D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196EAD-1BDE-4395-8218-8710FC41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2F9A06-711E-404C-B01A-161029D4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F6F851-81EE-4CC9-9C3B-9D0308A7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2415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內容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031FDC-9276-4496-B28E-3C60D2E1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38500"/>
            <a:ext cx="1276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品牌頁／商品頁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補足差異與數據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999755-12F7-4904-8164-EB1908E7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051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643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BB6D6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3BB6D6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343F1E-C039-4103-B612-2BDEE39D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1619250" cy="2381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C9E8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8166B9-C38E-4525-9B61-98E815BE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71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185E52-6E8C-43E6-97C0-1A1885ED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71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7642DC-660B-42F4-9734-0507B8E5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2415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AI引用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6DF2B3-785B-4C4F-B65F-46AA1C62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8500"/>
            <a:ext cx="1276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辨識品牌與競品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統計提及與引用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5C5B8B-E431-4E4B-A859-EDD59618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05125"/>
            <a:ext cx="266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643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3BB6D6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3BB6D6"/>
                </a:solidFill>
                <a:latin typeface="Noto Sans TC"/>
                <a:ea typeface="Noto Sans TC"/>
                <a:cs typeface="Noto Sans TC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F400DB-9CCD-4A61-A893-78BF20CBF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00250"/>
            <a:ext cx="1619250" cy="2381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C9E8D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0507D0-C4BB-4148-85A0-91060CFD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7170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9E0C30-E6D3-473B-A0BB-37ABD567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1717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FBEB734-25F3-4CEB-8834-62377052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24150"/>
            <a:ext cx="1276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商業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ABDEB0-B581-4BAF-B45C-716F0CA4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238500"/>
            <a:ext cx="1276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sessions→加購</a:t>
            </a:r>
          </a:p>
          <a:p xmlns:a="http://schemas.openxmlformats.org/drawingml/2006/main">
            <a:pPr algn="l">
              <a:buNone/>
              <a:defRPr sz="1163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→購買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DF8A01-5BC0-4207-9EB7-9D81C70A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73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B530FF9-877A-4283-B339-05EB6B72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768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核心原則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B7AFB1-3D52-4C35-8D65-0301461D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6月開始盤點，7月固定830題。8月與9月重跑AIO、ChatGPT，9月完成四引擎競品截面。</a:t>
            </a:r>
          </a:p>
        </p:txBody>
      </p:sp>
    </p:spTree>
    <p:extLst>
      <p:ext uri="{BB962C8B-B14F-4D97-AF65-F5344CB8AC3E}">
        <p14:creationId xmlns:p14="http://schemas.microsoft.com/office/powerpoint/2010/main" val="162478574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DDB68E-46EC-45F1-B5A8-2FDDBB6C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FEA95-DC63-40A9-8D63-4BB6FBCD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03｜MEASUREMENT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7E92E-0CF3-4038-813C-145B9610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四套資料、五種工具，各自回答不同問題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B6532-86BA-4E2A-910D-F480598D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286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607286"/>
                </a:solidFill>
                <a:latin typeface="Noto Sans TC"/>
                <a:ea typeface="Noto Sans TC"/>
                <a:cs typeface="Noto Sans TC"/>
              </a:rPr>
              <a:t>搜尋、索引、網站行為與AI引用不可混成一個總分。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72E1A-5EA4-484C-A5FD-AE789E01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defRPr>
            </a:pPr>
            <a:r>
              <a: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rPr>
              <a:t>SEO × GEO growth workflow｜anonymized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514D94-8A5F-4EF7-AB93-E43FDDD2B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77000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defRPr>
            </a:pPr>
            <a:r>
              <a: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rPr>
              <a:t>公開分享版｜百分比經四捨五入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C8D00-DB0C-4FA4-B575-F67106AA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2533650" cy="335280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0FCFD-C0F4-46D9-A497-7C3B213C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25336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02545-F747-44F0-A796-85BD83FA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搜尋成效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85FAF-8130-49BF-B279-E98B0285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GSC Search Analytics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B8B3B-DECE-4772-9455-0B0DE55D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曝光、點擊、CTR、Query、Page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AB8C0-D75A-4865-A98E-38153506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E0F15-CABB-48A3-8CCB-A6692B61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00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回答「被看見與被點擊了嗎？」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E6E2B-E45E-420B-8825-22657ECB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28800"/>
            <a:ext cx="2533650" cy="335280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41F8E-607B-4724-8D5D-019727F7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28800"/>
            <a:ext cx="25336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BB6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084005-13B7-4F06-9DCC-A887F688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技術收錄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5E738E-F9F4-43D8-B478-60B4751B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B6D6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3BB6D6"/>
                </a:solidFill>
                <a:latin typeface="Noto Sans TC"/>
                <a:ea typeface="Noto Sans TC"/>
                <a:cs typeface="Noto Sans TC"/>
              </a:rPr>
              <a:t>URL Inspection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2E88A4-DFB6-4F5A-8DB3-1E369BCC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索引狀態、canonical、抓取結果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6CEC9-9BD8-4DBB-AD39-7E3D6BC1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1480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21E435-5CAF-461E-B000-58C4F9C0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00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回答「搜尋引擎能讀懂嗎？」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D47BB2-3172-4048-94BE-22E7A08E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28800"/>
            <a:ext cx="2533650" cy="335280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B8F744-82BF-431C-A956-65A1A6C8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28800"/>
            <a:ext cx="25336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9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63F180-E246-411A-A2C4-0F466A2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商業承接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7A2B4E-734F-431C-8332-9A16F7C8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E9A78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0E9A78"/>
                </a:solidFill>
                <a:latin typeface="Noto Sans TC"/>
                <a:ea typeface="Noto Sans TC"/>
                <a:cs typeface="Noto Sans TC"/>
              </a:rPr>
              <a:t>GA4 Data API／匯出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2114FD-FA90-4E72-97AF-9D3FFD6EC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43250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sessions、加購、購買、到達頁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30866E-3139-468D-93E6-65B6558B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1480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5E8959-D1EF-47CF-A8E0-B1A4B3F6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100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回答「流量有產生價值嗎？」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F4889B-3E83-4567-B903-84F344AA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28800"/>
            <a:ext cx="2533650" cy="335280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219234-7973-403C-A331-BF78C7B9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28800"/>
            <a:ext cx="25336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CD5C12-B191-48A6-91EF-93C4CAE5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AI能見度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068BFC-7604-413E-BB18-916A19E6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1750"/>
            <a:ext cx="215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5484D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E5484D"/>
                </a:solidFill>
                <a:latin typeface="Noto Sans TC"/>
                <a:ea typeface="Noto Sans TC"/>
                <a:cs typeface="Noto Sans TC"/>
              </a:rPr>
              <a:t>DataForSEO／四大AI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12BC5A-A619-44F8-85F9-798DFA14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43250"/>
            <a:ext cx="21526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四大GenAI、競品、引用來源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3E6C11-97C2-4D92-B5FA-5745D461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14800"/>
            <a:ext cx="2190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724178B-2E49-4797-A4C7-25729203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100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回答「四大AI推薦誰、引用哪一頁？」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A2E3E7F-F658-4118-A574-05E55777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43550"/>
            <a:ext cx="1112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實際工具：GSC Search Analytics API｜URL Inspection API｜GA4 Data API／CSV｜DataForSEO｜Excel／Google Sheets
資料層：每月原始快照（唯讀）＋URL主檔＋Query分類主檔＋月度指標表；資料量放大後可改用 BigQuery</a:t>
            </a:r>
          </a:p>
        </p:txBody>
      </p:sp>
    </p:spTree>
    <p:extLst>
      <p:ext uri="{BB962C8B-B14F-4D97-AF65-F5344CB8AC3E}">
        <p14:creationId xmlns:p14="http://schemas.microsoft.com/office/powerpoint/2010/main" val="11753775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6-kicker">
            <a:extLst xmlns:a="http://schemas.openxmlformats.org/drawingml/2006/main">
              <a:ext uri="{FF2B5EF4-FFF2-40B4-BE49-F238E27FC236}">
                <a16:creationId xmlns:a16="http://schemas.microsoft.com/office/drawing/2014/main" id="{7D97C6EE-5549-478B-AB4C-6CEE8D6B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82C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E82CF"/>
                </a:solidFill>
                <a:latin typeface="Noto Sans TC"/>
                <a:ea typeface="Noto Sans TC"/>
                <a:cs typeface="Noto Sans TC"/>
              </a:rPr>
              <a:t>04A｜OBSERVATION GOALS</a:t>
            </a:r>
          </a:p>
        </p:txBody>
      </p:sp>
      <p:sp>
        <p:nvSpPr>
          <p:cNvPr id="2" name="p6-title">
            <a:extLst xmlns:a="http://schemas.openxmlformats.org/drawingml/2006/main">
              <a:ext uri="{FF2B5EF4-FFF2-40B4-BE49-F238E27FC236}">
                <a16:creationId xmlns:a16="http://schemas.microsoft.com/office/drawing/2014/main" id="{C4540FFA-006A-4891-AC9C-0CDE8963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429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426B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0B426B"/>
                </a:solidFill>
                <a:latin typeface="Noto Sans TC"/>
                <a:ea typeface="Noto Sans TC"/>
                <a:cs typeface="Noto Sans TC"/>
              </a:rPr>
              <a:t>觀測目標：基礎建設與GEO</a:t>
            </a:r>
          </a:p>
        </p:txBody>
      </p:sp>
      <p:sp>
        <p:nvSpPr>
          <p:cNvPr id="3" name="p6-subtitle">
            <a:extLst xmlns:a="http://schemas.openxmlformats.org/drawingml/2006/main">
              <a:ext uri="{FF2B5EF4-FFF2-40B4-BE49-F238E27FC236}">
                <a16:creationId xmlns:a16="http://schemas.microsoft.com/office/drawing/2014/main" id="{AE089181-F42B-4200-AF99-4AE05E04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A7D92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0">
                <a:solidFill>
                  <a:srgbClr val="6A7D92"/>
                </a:solidFill>
                <a:latin typeface="Noto Sans TC"/>
                <a:ea typeface="Noto Sans TC"/>
                <a:cs typeface="Noto Sans TC"/>
              </a:rPr>
              <a:t>先確認頁面能被搜尋，再觀察生成式AI是否提及品牌並引用官網內容。</a:t>
            </a:r>
          </a:p>
        </p:txBody>
      </p:sp>
      <p:sp>
        <p:nvSpPr>
          <p:cNvPr id="4" name="infra-panel">
            <a:extLst xmlns:a="http://schemas.openxmlformats.org/drawingml/2006/main">
              <a:ext uri="{FF2B5EF4-FFF2-40B4-BE49-F238E27FC236}">
                <a16:creationId xmlns:a16="http://schemas.microsoft.com/office/drawing/2014/main" id="{E0CCC16B-9E07-4AE7-892C-DFFD35B9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905250" cy="415290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CFE1EF"/>
            </a:solidFill>
          </a:ln>
        </p:spPr>
      </p:sp>
      <p:sp>
        <p:nvSpPr>
          <p:cNvPr id="5" name="infra-accent">
            <a:extLst xmlns:a="http://schemas.openxmlformats.org/drawingml/2006/main">
              <a:ext uri="{FF2B5EF4-FFF2-40B4-BE49-F238E27FC236}">
                <a16:creationId xmlns:a16="http://schemas.microsoft.com/office/drawing/2014/main" id="{51ED6908-C53E-4C4F-87F5-8997C716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390525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E82CF"/>
          </a:solidFill>
          <a:ln xmlns:a="http://schemas.openxmlformats.org/drawingml/2006/main" w="0">
            <a:noFill/>
          </a:ln>
        </p:spPr>
      </p:sp>
      <p:sp>
        <p:nvSpPr>
          <p:cNvPr id="6" name="infra-number-bg">
            <a:extLst xmlns:a="http://schemas.openxmlformats.org/drawingml/2006/main">
              <a:ext uri="{FF2B5EF4-FFF2-40B4-BE49-F238E27FC236}">
                <a16:creationId xmlns:a16="http://schemas.microsoft.com/office/drawing/2014/main" id="{40DE3D61-48EE-4494-AD8D-80BD75F9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E82CF"/>
          </a:solidFill>
          <a:ln xmlns:a="http://schemas.openxmlformats.org/drawingml/2006/main" w="0">
            <a:noFill/>
          </a:ln>
        </p:spPr>
      </p:sp>
      <p:sp>
        <p:nvSpPr>
          <p:cNvPr id="7" name="infra-number">
            <a:extLst xmlns:a="http://schemas.openxmlformats.org/drawingml/2006/main">
              <a:ext uri="{FF2B5EF4-FFF2-40B4-BE49-F238E27FC236}">
                <a16:creationId xmlns:a16="http://schemas.microsoft.com/office/drawing/2014/main" id="{49BF2C92-2F5F-4B55-BDC2-3AA9594E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8" name="infra-heading">
            <a:extLst xmlns:a="http://schemas.openxmlformats.org/drawingml/2006/main">
              <a:ext uri="{FF2B5EF4-FFF2-40B4-BE49-F238E27FC236}">
                <a16:creationId xmlns:a16="http://schemas.microsoft.com/office/drawing/2014/main" id="{249B2E57-199A-4157-A870-ABEE2465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19300"/>
            <a:ext cx="2619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426B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0B426B"/>
                </a:solidFill>
                <a:latin typeface="Noto Sans TC"/>
                <a:ea typeface="Noto Sans TC"/>
                <a:cs typeface="Noto Sans TC"/>
              </a:rPr>
              <a:t>基礎建設</a:t>
            </a:r>
          </a:p>
        </p:txBody>
      </p:sp>
      <p:sp>
        <p:nvSpPr>
          <p:cNvPr id="9" name="infra-goal-label">
            <a:extLst xmlns:a="http://schemas.openxmlformats.org/drawingml/2006/main">
              <a:ext uri="{FF2B5EF4-FFF2-40B4-BE49-F238E27FC236}">
                <a16:creationId xmlns:a16="http://schemas.microsoft.com/office/drawing/2014/main" id="{C1B33183-A596-4E89-8527-31892698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82CF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E82CF"/>
                </a:solidFill>
                <a:latin typeface="Noto Sans TC"/>
                <a:ea typeface="Noto Sans TC"/>
                <a:cs typeface="Noto Sans TC"/>
              </a:rPr>
              <a:t>目標</a:t>
            </a:r>
          </a:p>
        </p:txBody>
      </p:sp>
      <p:sp>
        <p:nvSpPr>
          <p:cNvPr id="10" name="infra-goal">
            <a:extLst xmlns:a="http://schemas.openxmlformats.org/drawingml/2006/main">
              <a:ext uri="{FF2B5EF4-FFF2-40B4-BE49-F238E27FC236}">
                <a16:creationId xmlns:a16="http://schemas.microsoft.com/office/drawing/2014/main" id="{187B2314-70A9-4715-AAEC-60093402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320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84D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24384D"/>
                </a:solidFill>
                <a:latin typeface="Noto Sans TC"/>
                <a:ea typeface="Noto Sans TC"/>
                <a:cs typeface="Noto Sans TC"/>
              </a:rPr>
              <a:t>讓商品頁能被搜尋引擎收錄，並形成自然搜尋入口</a:t>
            </a:r>
          </a:p>
        </p:txBody>
      </p:sp>
      <p:sp>
        <p:nvSpPr>
          <p:cNvPr id="11" name="infra-kpi-1-box">
            <a:extLst xmlns:a="http://schemas.openxmlformats.org/drawingml/2006/main">
              <a:ext uri="{FF2B5EF4-FFF2-40B4-BE49-F238E27FC236}">
                <a16:creationId xmlns:a16="http://schemas.microsoft.com/office/drawing/2014/main" id="{AA67137A-5581-4334-A61A-BE14F2E1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320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</a:ln>
        </p:spPr>
      </p:sp>
      <p:sp>
        <p:nvSpPr>
          <p:cNvPr id="12" name="infra-kpi-1">
            <a:extLst xmlns:a="http://schemas.openxmlformats.org/drawingml/2006/main">
              <a:ext uri="{FF2B5EF4-FFF2-40B4-BE49-F238E27FC236}">
                <a16:creationId xmlns:a16="http://schemas.microsoft.com/office/drawing/2014/main" id="{DF597EA7-46D6-4478-A31E-05BBB49B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1955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426B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B426B"/>
                </a:solidFill>
                <a:latin typeface="Noto Sans TC"/>
                <a:ea typeface="Noto Sans TC"/>
                <a:cs typeface="Noto Sans TC"/>
              </a:rPr>
              <a:t>搜尋收錄網址增加</a:t>
            </a:r>
          </a:p>
        </p:txBody>
      </p:sp>
      <p:sp>
        <p:nvSpPr>
          <p:cNvPr id="13" name="infra-kpi-2-box">
            <a:extLst xmlns:a="http://schemas.openxmlformats.org/drawingml/2006/main">
              <a:ext uri="{FF2B5EF4-FFF2-40B4-BE49-F238E27FC236}">
                <a16:creationId xmlns:a16="http://schemas.microsoft.com/office/drawing/2014/main" id="{168CE170-8376-4AB6-B775-CC536BF9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320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</a:ln>
        </p:spPr>
      </p:sp>
      <p:sp>
        <p:nvSpPr>
          <p:cNvPr id="14" name="infra-kpi-2">
            <a:extLst xmlns:a="http://schemas.openxmlformats.org/drawingml/2006/main">
              <a:ext uri="{FF2B5EF4-FFF2-40B4-BE49-F238E27FC236}">
                <a16:creationId xmlns:a16="http://schemas.microsoft.com/office/drawing/2014/main" id="{2A67788F-7A64-415D-AED8-F23C24C5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38700"/>
            <a:ext cx="2809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426B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B426B"/>
                </a:solidFill>
                <a:latin typeface="Noto Sans TC"/>
                <a:ea typeface="Noto Sans TC"/>
                <a:cs typeface="Noto Sans TC"/>
              </a:rPr>
              <a:t>自然搜尋進站增加</a:t>
            </a:r>
          </a:p>
        </p:txBody>
      </p:sp>
      <p:sp>
        <p:nvSpPr>
          <p:cNvPr id="15" name="infra-source">
            <a:extLst xmlns:a="http://schemas.openxmlformats.org/drawingml/2006/main">
              <a:ext uri="{FF2B5EF4-FFF2-40B4-BE49-F238E27FC236}">
                <a16:creationId xmlns:a16="http://schemas.microsoft.com/office/drawing/2014/main" id="{5C2E26AB-DED4-48D9-8F70-4E18B3A5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320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D92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6A7D92"/>
                </a:solidFill>
                <a:latin typeface="Noto Sans TC"/>
                <a:ea typeface="Noto Sans TC"/>
                <a:cs typeface="Noto Sans TC"/>
              </a:rPr>
              <a:t>資料來源：URL Inspection、GSC、GA4</a:t>
            </a:r>
          </a:p>
        </p:txBody>
      </p:sp>
      <p:sp>
        <p:nvSpPr>
          <p:cNvPr id="16" name="geo-panel">
            <a:extLst xmlns:a="http://schemas.openxmlformats.org/drawingml/2006/main">
              <a:ext uri="{FF2B5EF4-FFF2-40B4-BE49-F238E27FC236}">
                <a16:creationId xmlns:a16="http://schemas.microsoft.com/office/drawing/2014/main" id="{1BCF1BB6-3B43-492A-B4C0-AA5EFCA6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09750"/>
            <a:ext cx="6972300" cy="41529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EAF8F4"/>
          </a:solidFill>
          <a:ln xmlns:a="http://schemas.openxmlformats.org/drawingml/2006/main" w="9525">
            <a:solidFill>
              <a:srgbClr val="CFE1EF"/>
            </a:solidFill>
          </a:ln>
        </p:spPr>
      </p:sp>
      <p:sp>
        <p:nvSpPr>
          <p:cNvPr id="17" name="geo-accent">
            <a:extLst xmlns:a="http://schemas.openxmlformats.org/drawingml/2006/main">
              <a:ext uri="{FF2B5EF4-FFF2-40B4-BE49-F238E27FC236}">
                <a16:creationId xmlns:a16="http://schemas.microsoft.com/office/drawing/2014/main" id="{23D59D14-6131-4C30-80AC-C6EF7F9A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809750"/>
            <a:ext cx="6972300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9D83"/>
          </a:solidFill>
          <a:ln xmlns:a="http://schemas.openxmlformats.org/drawingml/2006/main" w="0">
            <a:noFill/>
          </a:ln>
        </p:spPr>
      </p:sp>
      <p:sp>
        <p:nvSpPr>
          <p:cNvPr id="18" name="geo-number-bg">
            <a:extLst xmlns:a="http://schemas.openxmlformats.org/drawingml/2006/main">
              <a:ext uri="{FF2B5EF4-FFF2-40B4-BE49-F238E27FC236}">
                <a16:creationId xmlns:a16="http://schemas.microsoft.com/office/drawing/2014/main" id="{74976C58-AD55-4BF9-94F6-8B6AB870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47875"/>
            <a:ext cx="4191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39D83"/>
          </a:solidFill>
          <a:ln xmlns:a="http://schemas.openxmlformats.org/drawingml/2006/main" w="0">
            <a:noFill/>
          </a:ln>
        </p:spPr>
      </p:sp>
      <p:sp>
        <p:nvSpPr>
          <p:cNvPr id="19" name="geo-number">
            <a:extLst xmlns:a="http://schemas.openxmlformats.org/drawingml/2006/main">
              <a:ext uri="{FF2B5EF4-FFF2-40B4-BE49-F238E27FC236}">
                <a16:creationId xmlns:a16="http://schemas.microsoft.com/office/drawing/2014/main" id="{E33B96BD-0FDD-42B5-A67E-0BADE7F2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47875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9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20" name="geo-heading">
            <a:extLst xmlns:a="http://schemas.openxmlformats.org/drawingml/2006/main">
              <a:ext uri="{FF2B5EF4-FFF2-40B4-BE49-F238E27FC236}">
                <a16:creationId xmlns:a16="http://schemas.microsoft.com/office/drawing/2014/main" id="{16186837-8D60-4AAA-B61D-1ED4AFB9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193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426B"/>
                </a:solidFill>
                <a:latin typeface="Noto Sans TC"/>
                <a:ea typeface="Noto Sans TC"/>
                <a:cs typeface="Noto Sans TC"/>
              </a:defRPr>
            </a:pPr>
            <a:r>
              <a:rPr sz="2100" b="1">
                <a:solidFill>
                  <a:srgbClr val="0B426B"/>
                </a:solidFill>
                <a:latin typeface="Noto Sans TC"/>
                <a:ea typeface="Noto Sans TC"/>
                <a:cs typeface="Noto Sans TC"/>
              </a:rPr>
              <a:t>GEO</a:t>
            </a:r>
          </a:p>
        </p:txBody>
      </p:sp>
      <p:sp>
        <p:nvSpPr>
          <p:cNvPr id="21" name="geo-equation">
            <a:extLst xmlns:a="http://schemas.openxmlformats.org/drawingml/2006/main">
              <a:ext uri="{FF2B5EF4-FFF2-40B4-BE49-F238E27FC236}">
                <a16:creationId xmlns:a16="http://schemas.microsoft.com/office/drawing/2014/main" id="{15028835-27A2-4A16-AC7C-59E1BC04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669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959"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139D83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139D83"/>
                </a:solidFill>
                <a:latin typeface="Noto Sans TC"/>
                <a:ea typeface="Noto Sans TC"/>
                <a:cs typeface="Noto Sans TC"/>
              </a:rPr>
              <a:t>83個商品頁 × 每頁10個queries = 830個queries</a:t>
            </a:r>
          </a:p>
        </p:txBody>
      </p:sp>
      <p:sp>
        <p:nvSpPr>
          <p:cNvPr id="22" name="geo-query-label">
            <a:extLst xmlns:a="http://schemas.openxmlformats.org/drawingml/2006/main">
              <a:ext uri="{FF2B5EF4-FFF2-40B4-BE49-F238E27FC236}">
                <a16:creationId xmlns:a16="http://schemas.microsoft.com/office/drawing/2014/main" id="{2B724FDD-568A-4005-A3E2-EAB87562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051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9D8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39D83"/>
                </a:solidFill>
                <a:latin typeface="Noto Sans TC"/>
                <a:ea typeface="Noto Sans TC"/>
                <a:cs typeface="Noto Sans TC"/>
              </a:rPr>
              <a:t>題組設計</a:t>
            </a:r>
          </a:p>
        </p:txBody>
      </p:sp>
      <p:sp>
        <p:nvSpPr>
          <p:cNvPr id="23" name="geo-query-body">
            <a:extLst xmlns:a="http://schemas.openxmlformats.org/drawingml/2006/main">
              <a:ext uri="{FF2B5EF4-FFF2-40B4-BE49-F238E27FC236}">
                <a16:creationId xmlns:a16="http://schemas.microsoft.com/office/drawing/2014/main" id="{D5CEE08F-75A9-4231-8171-A38A1022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00375"/>
            <a:ext cx="628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5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384D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24384D"/>
                </a:solidFill>
                <a:latin typeface="Noto Sans TC"/>
                <a:ea typeface="Noto Sans TC"/>
                <a:cs typeface="Noto Sans TC"/>
              </a:rPr>
              <a:t>每一個商品依照目標族群設計10個queries，並使用符合搜尋意圖的共用10個切角。</a:t>
            </a:r>
          </a:p>
        </p:txBody>
      </p:sp>
      <p:sp>
        <p:nvSpPr>
          <p:cNvPr id="24" name="geo-primary-label">
            <a:extLst xmlns:a="http://schemas.openxmlformats.org/drawingml/2006/main">
              <a:ext uri="{FF2B5EF4-FFF2-40B4-BE49-F238E27FC236}">
                <a16:creationId xmlns:a16="http://schemas.microsoft.com/office/drawing/2014/main" id="{B06555F2-7BF4-45E3-829C-D61611F8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385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9D83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139D83"/>
                </a:solidFill>
                <a:latin typeface="Noto Sans TC"/>
                <a:ea typeface="Noto Sans TC"/>
                <a:cs typeface="Noto Sans TC"/>
              </a:rPr>
              <a:t>主要觀測目標</a:t>
            </a:r>
          </a:p>
        </p:txBody>
      </p:sp>
      <p:sp>
        <p:nvSpPr>
          <p:cNvPr id="25" name="geo-kpi-1-box">
            <a:extLst xmlns:a="http://schemas.openxmlformats.org/drawingml/2006/main">
              <a:ext uri="{FF2B5EF4-FFF2-40B4-BE49-F238E27FC236}">
                <a16:creationId xmlns:a16="http://schemas.microsoft.com/office/drawing/2014/main" id="{BEC00F39-6CB7-41F2-A36D-9136C775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62400"/>
            <a:ext cx="2895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</a:ln>
        </p:spPr>
      </p:sp>
      <p:sp>
        <p:nvSpPr>
          <p:cNvPr id="26" name="geo-kpi-1">
            <a:extLst xmlns:a="http://schemas.openxmlformats.org/drawingml/2006/main">
              <a:ext uri="{FF2B5EF4-FFF2-40B4-BE49-F238E27FC236}">
                <a16:creationId xmlns:a16="http://schemas.microsoft.com/office/drawing/2014/main" id="{64B590D9-61EE-4150-85A9-F48E1F15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57650"/>
            <a:ext cx="251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426B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B426B"/>
                </a:solidFill>
                <a:latin typeface="Noto Sans TC"/>
                <a:ea typeface="Noto Sans TC"/>
                <a:cs typeface="Noto Sans TC"/>
              </a:rPr>
              <a:t>品牌提及度</a:t>
            </a:r>
          </a:p>
        </p:txBody>
      </p:sp>
      <p:sp>
        <p:nvSpPr>
          <p:cNvPr id="27" name="geo-kpi-1-desc">
            <a:extLst xmlns:a="http://schemas.openxmlformats.org/drawingml/2006/main">
              <a:ext uri="{FF2B5EF4-FFF2-40B4-BE49-F238E27FC236}">
                <a16:creationId xmlns:a16="http://schemas.microsoft.com/office/drawing/2014/main" id="{B465CE28-2A27-444C-B4C9-668703DF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71975"/>
            <a:ext cx="2514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A7D92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A7D92"/>
                </a:solidFill>
                <a:latin typeface="Noto Sans TC"/>
                <a:ea typeface="Noto Sans TC"/>
                <a:cs typeface="Noto Sans TC"/>
              </a:rPr>
              <a:t>回答是否提及品牌</a:t>
            </a:r>
          </a:p>
        </p:txBody>
      </p:sp>
      <p:sp>
        <p:nvSpPr>
          <p:cNvPr id="28" name="geo-kpi-2-box">
            <a:extLst xmlns:a="http://schemas.openxmlformats.org/drawingml/2006/main">
              <a:ext uri="{FF2B5EF4-FFF2-40B4-BE49-F238E27FC236}">
                <a16:creationId xmlns:a16="http://schemas.microsoft.com/office/drawing/2014/main" id="{1C89CF3A-08B3-4E2B-AEC5-0763DFD7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62400"/>
            <a:ext cx="3200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1EF"/>
            </a:solidFill>
          </a:ln>
        </p:spPr>
      </p:sp>
      <p:sp>
        <p:nvSpPr>
          <p:cNvPr id="29" name="geo-kpi-2">
            <a:extLst xmlns:a="http://schemas.openxmlformats.org/drawingml/2006/main">
              <a:ext uri="{FF2B5EF4-FFF2-40B4-BE49-F238E27FC236}">
                <a16:creationId xmlns:a16="http://schemas.microsoft.com/office/drawing/2014/main" id="{F8D1DAAF-8EB2-41E4-9F62-FB08D027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576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426B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B426B"/>
                </a:solidFill>
                <a:latin typeface="Noto Sans TC"/>
                <a:ea typeface="Noto Sans TC"/>
                <a:cs typeface="Noto Sans TC"/>
              </a:rPr>
              <a:t>官網引用比例</a:t>
            </a:r>
          </a:p>
        </p:txBody>
      </p:sp>
      <p:sp>
        <p:nvSpPr>
          <p:cNvPr id="30" name="geo-kpi-2-desc">
            <a:extLst xmlns:a="http://schemas.openxmlformats.org/drawingml/2006/main">
              <a:ext uri="{FF2B5EF4-FFF2-40B4-BE49-F238E27FC236}">
                <a16:creationId xmlns:a16="http://schemas.microsoft.com/office/drawing/2014/main" id="{56954C0D-6BB4-4D7E-A28B-AFD1A78C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71975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A7D92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6A7D92"/>
                </a:solidFill>
                <a:latin typeface="Noto Sans TC"/>
                <a:ea typeface="Noto Sans TC"/>
                <a:cs typeface="Noto Sans TC"/>
              </a:rPr>
              <a:t>包含該網域下的所有網址</a:t>
            </a:r>
          </a:p>
        </p:txBody>
      </p:sp>
      <p:sp>
        <p:nvSpPr>
          <p:cNvPr id="31" name="geo-competitor-box">
            <a:extLst xmlns:a="http://schemas.openxmlformats.org/drawingml/2006/main">
              <a:ext uri="{FF2B5EF4-FFF2-40B4-BE49-F238E27FC236}">
                <a16:creationId xmlns:a16="http://schemas.microsoft.com/office/drawing/2014/main" id="{1092F67A-C571-4D16-962F-71CDE147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933950"/>
            <a:ext cx="62865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4E3"/>
          </a:solidFill>
          <a:ln xmlns:a="http://schemas.openxmlformats.org/drawingml/2006/main" w="9525">
            <a:solidFill>
              <a:srgbClr val="F0C783"/>
            </a:solidFill>
          </a:ln>
        </p:spPr>
      </p:sp>
      <p:sp>
        <p:nvSpPr>
          <p:cNvPr id="32" name="geo-competitor-label">
            <a:extLst xmlns:a="http://schemas.openxmlformats.org/drawingml/2006/main">
              <a:ext uri="{FF2B5EF4-FFF2-40B4-BE49-F238E27FC236}">
                <a16:creationId xmlns:a16="http://schemas.microsoft.com/office/drawing/2014/main" id="{D09A8AD1-8884-4018-9911-45EC1626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387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8B1E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D88B1E"/>
                </a:solidFill>
                <a:latin typeface="Noto Sans TC"/>
                <a:ea typeface="Noto Sans TC"/>
                <a:cs typeface="Noto Sans TC"/>
              </a:rPr>
              <a:t>競品觀察與推論</a:t>
            </a:r>
          </a:p>
        </p:txBody>
      </p:sp>
      <p:sp>
        <p:nvSpPr>
          <p:cNvPr id="33" name="geo-competitor-body">
            <a:extLst xmlns:a="http://schemas.openxmlformats.org/drawingml/2006/main">
              <a:ext uri="{FF2B5EF4-FFF2-40B4-BE49-F238E27FC236}">
                <a16:creationId xmlns:a16="http://schemas.microsoft.com/office/drawing/2014/main" id="{B1DA7945-C84A-40B7-837F-C831AFC7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286375"/>
            <a:ext cx="586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38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84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24384D"/>
                </a:solidFill>
                <a:latin typeface="Noto Sans TC"/>
                <a:ea typeface="Noto Sans TC"/>
                <a:cs typeface="Noto Sans TC"/>
              </a:rPr>
              <a:t>同步觀測競爭品牌，推論四大GenAI的引用原則，以及各家偏好的內容與資料結構。</a:t>
            </a:r>
          </a:p>
        </p:txBody>
      </p:sp>
      <p:sp>
        <p:nvSpPr>
          <p:cNvPr id="34" name="footer-left">
            <a:extLst xmlns:a="http://schemas.openxmlformats.org/drawingml/2006/main">
              <a:ext uri="{FF2B5EF4-FFF2-40B4-BE49-F238E27FC236}">
                <a16:creationId xmlns:a16="http://schemas.microsoft.com/office/drawing/2014/main" id="{91470593-F4CB-4440-A0B9-DA6F8079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A7D9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A7D92"/>
                </a:solidFill>
                <a:latin typeface="Noto Sans TC"/>
                <a:ea typeface="Noto Sans TC"/>
                <a:cs typeface="Noto Sans TC"/>
              </a:rPr>
              <a:t>SEO × GEO growth workflow｜anonymized case</a:t>
            </a:r>
          </a:p>
        </p:txBody>
      </p:sp>
      <p:sp>
        <p:nvSpPr>
          <p:cNvPr id="35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2BCF8DB2-F164-43D9-98A0-599FAAA79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343650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A7D92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0">
                <a:solidFill>
                  <a:srgbClr val="6A7D92"/>
                </a:solidFill>
                <a:latin typeface="Noto Sans TC"/>
                <a:ea typeface="Noto Sans TC"/>
                <a:cs typeface="Noto Sans TC"/>
              </a:rPr>
              <a:t>資料截至2026/09｜固定830題</a:t>
            </a:r>
          </a:p>
        </p:txBody>
      </p:sp>
    </p:spTree>
    <p:extLst>
      <p:ext uri="{BB962C8B-B14F-4D97-AF65-F5344CB8AC3E}">
        <p14:creationId xmlns:p14="http://schemas.microsoft.com/office/powerpoint/2010/main" val="17004729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F3FCC6-75F5-4292-82E2-DE429F33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F0CB3-4499-49F4-8040-EBD163A3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04B｜GEO METRICS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73B6C-DE29-4B3F-8342-408989F4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四大GenAI競品分析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EE635-46FA-4F5A-BDDC-12D428C1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286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607286"/>
                </a:solidFill>
                <a:latin typeface="Noto Sans TC"/>
                <a:ea typeface="Noto Sans TC"/>
                <a:cs typeface="Noto Sans TC"/>
              </a:rPr>
              <a:t>固定830題。AIO與ChatGPT有7、8、9月可比資料，另保留9月四大GenAI競品截面。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E7B1C-4AB4-43B1-8D41-9DFFFD6F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defRPr>
            </a:pPr>
            <a:r>
              <a: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rPr>
              <a:t>SEO × GEO growth workflow｜anonymized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62BD9-5114-4C41-A785-D220060E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77000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defRPr>
            </a:pPr>
            <a:r>
              <a: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rPr>
              <a:t>DataForSEO最終快照｜2026/09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D38BB-542D-4719-9AAA-8EDA9A103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52959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67972-3BC5-47C5-B456-B2BE89D8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8191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68EF6-ED7D-43EE-BE94-28583AF6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4785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認知層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D33DC-F7B2-48AD-BFF1-6E4CC0E3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907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品牌提及率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FD162-DF15-44F6-B538-674CF3DA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1013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有提到品牌的題數 ÷ 有效題數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568ED-89E7-48EB-B531-A1BE48A7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衡量AI是否認識品牌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304CE-77C5-4FBA-BFFB-DDCDF2CC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76400"/>
            <a:ext cx="52959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1A6EB-C422-4966-A182-BC8EA948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8191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E7A1E0-0036-441B-AF28-1EDBB410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信任層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C557CD-EE44-4228-8795-AA2D6DF6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907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官方網站引用率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D94BE-2FC0-414C-A59E-CDF7502E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1013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引用官方網域的題數 ÷ 有效題數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406C3D-A4A8-4FEA-B52C-8A7989C4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衡量品牌是否成為資料來源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F7BC9D-2257-43C2-967D-3C9BED85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52959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BCE4AB-495A-42CA-9CD6-BA5818DA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8191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E9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88CFF0-D8A7-450B-933E-39EB2DD8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承接層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063138-C11A-4FC1-BA5A-CB2AB2112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商品／課程頁引用率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7BA057-5C8E-4D0F-B77D-F50F38E7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1013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引用任一商品／課程頁的題數 ÷ 有效題數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FF137A-58E8-4885-98E3-552C061EE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衡量引用是否深入產品頁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D8CA11-A241-4454-B62D-75D4B3AB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52959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073B66"/>
          </a:solidFill>
          <a:ln xmlns:a="http://schemas.openxmlformats.org/drawingml/2006/main" w="9525">
            <a:solidFill>
              <a:srgbClr val="073B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DFF7AD-AECD-41FD-84AE-F18A6041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8191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600353-05A6-47EE-895A-9D647549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精準層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FE7C24-BF5A-4BB3-96CF-9D399DB28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正確商品頁命中率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03D958-B716-4A1C-B602-027B5BDD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D8E8F4"/>
                </a:solidFill>
                <a:latin typeface="Noto Sans TC"/>
                <a:ea typeface="Noto Sans TC"/>
                <a:cs typeface="Noto Sans TC"/>
              </a:defRPr>
            </a:pPr>
            <a:r>
              <a:rPr sz="1013" b="1">
                <a:solidFill>
                  <a:srgbClr val="D8E8F4"/>
                </a:solidFill>
                <a:latin typeface="Noto Sans TC"/>
                <a:ea typeface="Noto Sans TC"/>
                <a:cs typeface="Noto Sans TC"/>
              </a:rPr>
              <a:t>引用指定商品／課程頁的題數 ÷ 有效題數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28270E-B53B-4EE5-B975-74E2C479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衡量答案是否導向正確商品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F20290-6B99-4113-8BCD-B2E391E6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0"/>
            <a:ext cx="52959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3A6E06-7C0B-42FF-A16F-287A7802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8191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E9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1A38FD-09BA-4825-9816-7A099E86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5295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競品層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CAD40D-5234-4DC0-961A-39FD7EC9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958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競品第一提及占比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5AD043-1EBC-4FA6-8240-79D1F9F1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1013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各品牌第一提及次數 ÷ 全品牌第一提及總次數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A0E27DE-1DD3-4C3F-B3E6-F59CC301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比較四大GenAI中的推薦位置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F69397B-627C-4AC3-BA2D-74492C74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81500"/>
            <a:ext cx="52959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59B743-390D-4BB6-91E0-301AC080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52950"/>
            <a:ext cx="8191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0E9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654CF0-ACC5-4539-8F20-2FA8FBAD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52950"/>
            <a:ext cx="81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9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缺口層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7D7A02-BA91-4D76-A4CA-FF44438F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4958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50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零命中率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4BD518-50E2-4F86-8A23-47C2212B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76800"/>
            <a:ext cx="491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1013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完全未提及品牌／官網／課程頁的題數 ÷ 有效題數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A4AFFBA-6918-462A-9C87-C49ED8B7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81600"/>
            <a:ext cx="491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找出最優先補內容的課程群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12BEE4-8A12-418B-B772-0B8655FE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38" b="1">
                <a:solidFill>
                  <a:srgbClr val="E5484D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1">
                <a:solidFill>
                  <a:srgbClr val="E5484D"/>
                </a:solidFill>
                <a:latin typeface="Noto Sans TC"/>
                <a:ea typeface="Noto Sans TC"/>
                <a:cs typeface="Noto Sans TC"/>
              </a:rPr>
              <a:t>成長比較只使用相同題組的有效答案。Gemini與Perplexity僅呈現9月截面，不宣稱跨月成長。</a:t>
            </a:r>
          </a:p>
        </p:txBody>
      </p:sp>
    </p:spTree>
    <p:extLst>
      <p:ext uri="{BB962C8B-B14F-4D97-AF65-F5344CB8AC3E}">
        <p14:creationId xmlns:p14="http://schemas.microsoft.com/office/powerpoint/2010/main" val="208249164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FA0C49-4250-4099-957B-770516DA7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9C760-C827-4E3C-8D91-D6B9D833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04C｜MONTHLY SOP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BD050-A29C-4F0A-995F-832E7C9D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每月執行SOP：五個工作天產出可行動月報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D1227-C3B9-4789-9562-6D76615E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9200"/>
            <a:ext cx="11125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07286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607286"/>
                </a:solidFill>
                <a:latin typeface="Noto Sans TC"/>
                <a:ea typeface="Noto Sans TC"/>
                <a:cs typeface="Noto Sans TC"/>
              </a:rPr>
              <a:t>DataForSEO用固定題組抓取四大GenAI，再比較品牌、競品與引用來源。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32F81-EDC3-421E-854C-AFCBD73F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defRPr>
            </a:pPr>
            <a:r>
              <a: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rPr>
              <a:t>SEO × GEO growth workflow｜anonymized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D1D83-37AA-4394-80E9-C864CBD5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77000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defRPr>
            </a:pPr>
            <a:r>
              <a: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rPr>
              <a:t>公開分享版｜百分比經四捨五入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BEBCC-9C68-4F03-82EA-E8C21675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2000250" cy="33718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41500-5CBF-4841-B71C-77B0373F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495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B177B-6DD2-4069-915B-BC0B2BB2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431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708330-50ED-4B6F-ACD9-22E100BD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凍結題組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860315-8D04-4223-B680-32CA4D17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1657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固定Query與品牌別名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各AI使用相同題目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8FDC8E-11C7-4466-8822-FF41DB12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7335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31C192-1442-4121-8D58-8EB412C9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24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1013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輸出：本月題組清單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707003-58F8-4AC1-9660-FFA05680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2000250" cy="33718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1D967-F3AE-43C7-9EDD-D8703B82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43100"/>
            <a:ext cx="495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A0F757-B946-4EC7-9D09-A9DADD3D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431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D88D06-2E73-4987-8FEF-AB857AED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146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抓取資料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66AC0D-BF4A-4363-8964-94CD2AA6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1657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AIO／ChatGPT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Gemini／Perplexity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AD1C54-901E-46D3-A628-70A19350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86250"/>
            <a:ext cx="17335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4BF611-1B15-45D2-B58D-64FFA4BF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624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1013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輸出：四組原始回答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810B63-4A4C-4DD9-9668-70ED3E462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52600"/>
            <a:ext cx="2000250" cy="33718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9CACA5-B125-471A-BD4B-F3E3B5DB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43100"/>
            <a:ext cx="495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483E43-ECBD-47E8-A99B-DB4C22F89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431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1975E2-27F0-42F2-9325-F46C2389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146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清理與分類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B822BD-1BAF-4534-97CB-D967CD7E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28950"/>
            <a:ext cx="1657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統一品牌別名與網址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分類提及、推薦與引用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A7E1D8-FE2C-416C-A669-B7FD6D9B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86250"/>
            <a:ext cx="17335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0A2858-35A6-41D6-A2FF-B3429A1A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3624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1013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輸出：競品提及明細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A97289-D6D4-425A-A7DC-27A4D5C4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52600"/>
            <a:ext cx="2000250" cy="33718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A3CD1B-B775-456B-9A53-9C72717E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43100"/>
            <a:ext cx="495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E9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D15139-0BB6-4B29-943D-3BFDAF3C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9431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2DF4EA-A171-4263-A99F-2550A104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146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計算與驗證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F566EF-24A7-4170-A2FE-3AAA0E22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28950"/>
            <a:ext cx="1657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比較四大GenAI差異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找出高頻競品與引用來源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F1BFDD-57D3-49F3-9FD5-DD375A3D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86250"/>
            <a:ext cx="17335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706F60-A82E-4A92-990F-061F3381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624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1013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輸出：競品與來源排名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C903DD-C3BA-4F4D-93DE-83C0EAEB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52600"/>
            <a:ext cx="2000250" cy="33718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73B66"/>
          </a:solidFill>
          <a:ln xmlns:a="http://schemas.openxmlformats.org/drawingml/2006/main" w="9525">
            <a:solidFill>
              <a:srgbClr val="073B6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8FFA7B-4459-45EF-B4BB-D725FD903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43100"/>
            <a:ext cx="495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F5B382-AF4C-4AFA-B463-E25E06AB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43100"/>
            <a:ext cx="49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D5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E1BB80-2EF1-4F14-B5CE-13A233D9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146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決策與派工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27BB0D-3576-45D7-B225-73ABD49F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28950"/>
            <a:ext cx="1657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D8E8F4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D8E8F4"/>
                </a:solidFill>
                <a:latin typeface="Noto Sans TC"/>
                <a:ea typeface="Noto Sans TC"/>
                <a:cs typeface="Noto Sans TC"/>
              </a:rPr>
              <a:t>回查品牌頁／商品頁缺口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D8E8F4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D8E8F4"/>
                </a:solidFill>
                <a:latin typeface="Noto Sans TC"/>
                <a:ea typeface="Noto Sans TC"/>
                <a:cs typeface="Noto Sans TC"/>
              </a:rPr>
              <a:t>設定改善與通過條件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E4F568-5746-4882-BDA7-DDAACAA3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286250"/>
            <a:ext cx="17335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24F7B"/>
          </a:solidFill>
          <a:ln xmlns:a="http://schemas.openxmlformats.org/drawingml/2006/main" w="9525">
            <a:solidFill>
              <a:srgbClr val="2C6E9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C748CF-FA7E-4401-8C17-1FBAF1B4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362450"/>
            <a:ext cx="1581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13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013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輸出：成果帳本＋行動表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0A46B2-E8DF-4B99-A7F8-1B7C0B00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111252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B1A710-55D7-4049-898F-96A75DBE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自動化建議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507901-B96E-4E73-BAC9-B9A6FB3C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505450"/>
            <a:ext cx="923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API負責固定題組抓取。題組、品牌別名、競品歸類與引用判定須版本化，四大GenAI使用同一批題目比較。</a:t>
            </a:r>
          </a:p>
        </p:txBody>
      </p:sp>
    </p:spTree>
    <p:extLst>
      <p:ext uri="{BB962C8B-B14F-4D97-AF65-F5344CB8AC3E}">
        <p14:creationId xmlns:p14="http://schemas.microsoft.com/office/powerpoint/2010/main" val="6095366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E50139F-2447-4F1E-A0C6-DEC72DF89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3CD69F-9422-4F6C-BC8B-F290499A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04｜PROOF-OF-WORK LEDGER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37460-99C7-441C-9686-1CC37AF3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成果帳本：不是列待辦，而是留下可驗證的交付紀錄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4498C-1CD7-49F9-B3C6-806B6B18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defRPr>
            </a:pPr>
            <a:r>
              <a: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rPr>
              <a:t>SEO × GEO growth workflow｜anonymized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60813A-FD71-4E8F-AB8E-7F281730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77000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defRPr>
            </a:pPr>
            <a:r>
              <a: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rPr>
              <a:t>資料截至2026/09｜百分點經四捨五入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157C6-E430-4158-B3F2-8621FA49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1600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D3A9FB-96EE-4F38-9BAA-FA94FB6B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81150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工作線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3BDF09-E3B1-4B7F-8E9B-0248B807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81150"/>
            <a:ext cx="2419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A41F7-67EC-496F-A47B-07273717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581150"/>
            <a:ext cx="2419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完成產出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139ECA-70DD-4652-A90E-D1B32A7D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81150"/>
            <a:ext cx="2800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A6C1E3-E5D2-4E48-A104-316AA796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81150"/>
            <a:ext cx="280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驗證方式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98EFE-8F12-453F-AC59-88468454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581150"/>
            <a:ext cx="2343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6B70A-57B8-4958-AE9F-79F392D0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581150"/>
            <a:ext cx="2343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可分享成果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4C8A01-D824-4EAF-A03E-5C1FDCC0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581150"/>
            <a:ext cx="1962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3B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ACADA4-9CB3-4125-B23A-4783961F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581150"/>
            <a:ext cx="1962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163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下一通過條件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9452B-4A50-4064-8EF2-E13721FC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62150"/>
            <a:ext cx="1600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8395D9-C03B-474B-98CB-6013EFEA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009775"/>
            <a:ext cx="1466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技術收錄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AFF2E5-24D6-48A0-964C-4BC40498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962150"/>
            <a:ext cx="2419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C35DC6-8FDC-405E-82B0-45E9C3B2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009775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完成頁面摘要、sitemap與canonical改善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A43F6B-F7E2-48F3-88DC-D8EE1C88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62150"/>
            <a:ext cx="2800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5DF917-A39E-4E96-A8E6-5ACAB51A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09775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6月起掃描，7至9月完整母體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A215CE-909F-4F25-9C06-5E8B6ABD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62150"/>
            <a:ext cx="234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8069C8-3BBD-4678-8155-6BBF3B45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009775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收錄 +178%*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98C9CA-2D8C-4B31-A55D-33FBACDF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96215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C4729F-0967-457B-B119-F39792F5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009775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*6月為部分掃描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B88795-1B23-4590-A80F-DA3CB0EC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1600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A2D148-B88D-4B74-A866-C63C1238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52725"/>
            <a:ext cx="1466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頁面能見度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93795D-3001-4D79-85C5-338336AD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705100"/>
            <a:ext cx="2419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2838A4-1EAC-40FC-90AD-DAA6FDB6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752725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建立課程頁型月度追蹤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4C6104-1688-497F-9F2A-B483B4AC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05100"/>
            <a:ext cx="2800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F56D2E-ED5C-472D-AF25-9A097C8B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52725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同頁型比較2026/06至08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02E203-EA2A-444B-99CF-E314CBA2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05100"/>
            <a:ext cx="234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484CE8-7F41-4028-B485-77036C7C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752725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曝光 +317%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5D4154-AD22-41CF-B559-474253839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0510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B4341D-9C75-42E0-9EF0-FE604796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752725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補齊9月曝光資料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A74A2A6-619B-4DF2-9247-E010DDEC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48050"/>
            <a:ext cx="1600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0BC6EF-0E4B-4279-B43B-8B8E3D73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495675"/>
            <a:ext cx="1466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AI品牌能見度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E3DB0E-EB49-414E-9CDF-654FFA72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48050"/>
            <a:ext cx="2419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8BFEF3-9C1A-49A3-92F7-BF40CF4D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495675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DataForSEO抓四大GenAI固定題組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33BBF7-5594-416C-9DCF-7382701F4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48050"/>
            <a:ext cx="2800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ED4B157-6C51-4D8C-9FD1-A0E7D0B2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95675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固定830題比較2026/07至09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1196C3C-5BD5-4E00-B8DC-FC9FA1D2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48050"/>
            <a:ext cx="234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400D2C-53B8-428D-A0BC-7D7D6C31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95675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GPT提及 +28.7pp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8592C9-5170-4AB3-8BC5-150F7CDBC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4805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248C67-1C65-4D4E-8F34-EACEB276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95675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比較四引擎競品位置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80CFF6-D210-4458-952C-A6DC9319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0"/>
            <a:ext cx="1600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0FFB5B-8696-46CB-A54D-C7461354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238625"/>
            <a:ext cx="1466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AI官網引用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3EBC55-700B-40CA-BD4D-E64F10DA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191000"/>
            <a:ext cx="2419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3EE1CE-AFEE-4DB2-AECB-3C27E6D6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238625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建立官方網域判定規則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12EBFA6-9A11-4F75-A957-BBBAF15C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91000"/>
            <a:ext cx="2800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98954FD-0BD9-4DCE-B355-95A7A7A8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固定830題比較2026/07至09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6E326C-AC46-4E60-9028-BD8F59BA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91000"/>
            <a:ext cx="234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F17A99-183D-4DF5-922D-D1F6031F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238625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GPT官網 +40.8pp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B020B3-4433-453E-8D3D-54EE989E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9100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D8D66D6-AB91-4F07-95C6-A2FD89408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238625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回查品牌頁與商品頁缺口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E2428A1-537F-45A0-81C7-E849687A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1600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EF5DDD0-82A3-4D57-B7EE-47495CD6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981575"/>
            <a:ext cx="1466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商業承接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A90725-DE30-4394-9D76-D18F35A4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933950"/>
            <a:ext cx="2419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2E9B770-4BBC-4F6D-9C86-7223893F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981575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串接AI來源到站內轉換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3D33B08-B6CF-4939-A707-F2DBA85A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933950"/>
            <a:ext cx="28003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1B1EE4B-2128-4713-8C2E-E0B9D064B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81575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sessions、事件、人數分開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1B597A2-09C3-498A-A116-F5A26939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933950"/>
            <a:ext cx="2343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6F88D71-1A9A-4730-B20F-5487CABA2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981575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建立轉換基準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9EDD692-F9D1-4DCC-8B9D-FC141772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933950"/>
            <a:ext cx="19621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3CC5A4B-7AFF-47A0-952C-3ED32593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981575"/>
            <a:ext cx="1828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08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至少連續3期觀察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8DD8C1F-2B6B-43AD-BA41-064F079F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E9A78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0E9A78"/>
                </a:solidFill>
                <a:latin typeface="Noto Sans TC"/>
                <a:ea typeface="Noto Sans TC"/>
                <a:cs typeface="Noto Sans TC"/>
              </a:rPr>
              <a:t>分享時保留：6月開始觀察、9月最終快照、固定分母與判讀限制。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96B7454-E486-4B58-B5F3-D55971FF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829300"/>
            <a:ext cx="5467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E5484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E5484D"/>
                </a:solidFill>
                <a:latin typeface="Noto Sans TC"/>
                <a:ea typeface="Noto Sans TC"/>
                <a:cs typeface="Noto Sans TC"/>
              </a:rPr>
              <a:t>分享時移除：品牌、網址、課程、競品、樣本總量、營收與內部排程。</a:t>
            </a:r>
          </a:p>
        </p:txBody>
      </p:sp>
    </p:spTree>
    <p:extLst>
      <p:ext uri="{BB962C8B-B14F-4D97-AF65-F5344CB8AC3E}">
        <p14:creationId xmlns:p14="http://schemas.microsoft.com/office/powerpoint/2010/main" val="10784219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01310C-C3A6-46F7-9EAB-1C0EFCA8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2C2F0-FA8D-4AD2-8557-24327552F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877C9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877C9"/>
                </a:solidFill>
                <a:latin typeface="Noto Sans TC"/>
                <a:ea typeface="Noto Sans TC"/>
                <a:cs typeface="Noto Sans TC"/>
              </a:rPr>
              <a:t>05｜INTERPRETATION GUARDRAILS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359AB-CD91-40D0-9230-1F9680886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讓成長數字可信：四個不能省略的判讀規則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F5C5E-F91D-44F0-8858-4FCA834D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defRPr>
            </a:pPr>
            <a:r>
              <a: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rPr>
              <a:t>SEO × GEO growth workflow｜anonymized 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FF016-8260-424D-A43B-51EAE4D5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477000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defRPr>
            </a:pPr>
            <a:r>
              <a:rPr sz="788" b="0">
                <a:solidFill>
                  <a:srgbClr val="607286"/>
                </a:solidFill>
                <a:latin typeface="Noto Sans TC"/>
                <a:ea typeface="Noto Sans TC"/>
                <a:cs typeface="Noto Sans TC"/>
              </a:rPr>
              <a:t>公開分享版｜百分比經四捨五入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5C509-C5BF-43BE-BA03-49AAB13E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52959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DDA8C-DCBD-4AD7-A38B-FF2BFC24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51C01-B9A4-4DC6-8D24-0088E958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4302E-D02F-4987-9034-5B5D8E78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8859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固定分母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978653-1154-4F92-93C0-EF13212C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431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前後使用相同URL、頁型與題組；不可因新增樣本製造成長。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6A831-846A-49AB-BA55-820BCC65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2959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F729B-550B-4FEF-943A-0929E4CB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431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6322C-6C3B-4918-A89E-B562D2E1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431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839ACE-75BB-4ED0-86F1-981F99FE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8595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季節校正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B7C22-1D64-40D6-9659-5C72F6E1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431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考試與銷售有週期時，以YOY／同學期比較為主。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E92EE5-B9E2-4DF7-9452-9D0716FC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52959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6F9FC"/>
          </a:solidFill>
          <a:ln xmlns:a="http://schemas.openxmlformats.org/drawingml/2006/main" w="9525">
            <a:solidFill>
              <a:srgbClr val="D4E4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E60025-F8B0-4C26-B96E-A80AFACE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59893A-3A1D-4715-83C1-3E08A046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FC798-7FD5-4FDA-A104-9383E8D9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957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073B66"/>
                </a:solidFill>
                <a:latin typeface="Noto Sans TC"/>
                <a:ea typeface="Noto Sans TC"/>
                <a:cs typeface="Noto Sans TC"/>
              </a:rPr>
              <a:t>百分點分開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1AAC77-790F-4FB2-9822-DADB13A8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52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0">
                <a:solidFill>
                  <a:srgbClr val="243447"/>
                </a:solidFill>
                <a:latin typeface="Noto Sans TC"/>
                <a:ea typeface="Noto Sans TC"/>
                <a:cs typeface="Noto Sans TC"/>
              </a:rPr>
              <a:t>31.4%升至72.2%，增加40.8pp。相對成長約130%。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80007D-C81B-4295-842C-A4EE0912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52959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073B66"/>
          </a:solidFill>
          <a:ln xmlns:a="http://schemas.openxmlformats.org/drawingml/2006/main" w="9525">
            <a:solidFill>
              <a:srgbClr val="073B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0DA6A6-8E7B-4A2A-ADAA-8323F2FE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528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4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F08360-C3F1-432B-960E-3BF0D2E5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52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57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3E30A-95AC-497D-94C7-56B0523B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957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不越過因果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820222-1EA4-4FC8-8F29-F6771857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52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38" b="0">
                <a:solidFill>
                  <a:srgbClr val="D8E8F4"/>
                </a:solidFill>
                <a:latin typeface="Noto Sans TC"/>
                <a:ea typeface="Noto Sans TC"/>
                <a:cs typeface="Noto Sans TC"/>
              </a:defRPr>
            </a:pPr>
            <a:r>
              <a:rPr sz="1238" b="0">
                <a:solidFill>
                  <a:srgbClr val="D8E8F4"/>
                </a:solidFill>
                <a:latin typeface="Noto Sans TC"/>
                <a:ea typeface="Noto Sans TC"/>
                <a:cs typeface="Noto Sans TC"/>
              </a:rPr>
              <a:t>同時上升只能列為支持證據；持續重跑或建立對照組再談因果。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AB5432-3C60-4031-8A7A-EFC77805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0"/>
            <a:ext cx="111252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0D19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830BBE-D555-42A1-A3E2-EF44F552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1074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865B16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865B16"/>
                </a:solidFill>
                <a:latin typeface="Noto Sans TC"/>
                <a:ea typeface="Noto Sans TC"/>
                <a:cs typeface="Noto Sans TC"/>
              </a:rPr>
              <a:t>公開案例的價值不是炫耀絕對數字，而是證明：同一套方法能重跑、能驗收，也能知道下一步該修哪裡。</a:t>
            </a:r>
          </a:p>
        </p:txBody>
      </p:sp>
    </p:spTree>
    <p:extLst>
      <p:ext uri="{BB962C8B-B14F-4D97-AF65-F5344CB8AC3E}">
        <p14:creationId xmlns:p14="http://schemas.microsoft.com/office/powerpoint/2010/main" val="92520637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BA137D-4E87-44CB-8F17-41F24A749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E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4905C8-1B58-42FD-9E6E-6633DA7A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5D7EB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75D7EB"/>
                </a:solidFill>
                <a:latin typeface="Noto Sans TC"/>
                <a:ea typeface="Noto Sans TC"/>
                <a:cs typeface="Noto Sans TC"/>
              </a:rPr>
              <a:t>06｜REUSABLE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54D78-474F-4879-8CD4-7F1794A1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239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28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每月只回答五個問題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28C3D0-6939-40FA-9801-503685DD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666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8F9E3-6C1D-4BB5-BA3C-FA89AF87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EE713-FACA-40D9-82A5-CFB16E87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621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完成了什麼？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11D03C-357A-48F5-96EC-4CEEEE7A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5621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7DBE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C7DBEA"/>
                </a:solidFill>
                <a:latin typeface="Noto Sans TC"/>
                <a:ea typeface="Noto Sans TC"/>
                <a:cs typeface="Noto Sans TC"/>
              </a:rPr>
              <a:t>用交付物與完成量回答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8991AB-F64D-4849-BA8B-EE561AFE3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666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25F7D-652E-4906-B240-220AB7A6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23E3E-40F1-46DD-9D6F-1956CED5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812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怎麼驗證？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76C45-1257-4105-906C-3DE3EBCB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3812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7DBE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C7DBEA"/>
                </a:solidFill>
                <a:latin typeface="Noto Sans TC"/>
                <a:ea typeface="Noto Sans TC"/>
                <a:cs typeface="Noto Sans TC"/>
              </a:rPr>
              <a:t>寫明資料來源、分母與期間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0BDFE-E501-4328-A04F-4784EA91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666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877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34CBEB-856D-4167-802D-EC52C449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A27DFB-59FA-4666-945D-4AB36497C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004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改善多少？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4ECE8-BC90-45B0-96E1-54FC4D95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004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7DBE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C7DBEA"/>
                </a:solidFill>
                <a:latin typeface="Noto Sans TC"/>
                <a:ea typeface="Noto Sans TC"/>
                <a:cs typeface="Noto Sans TC"/>
              </a:rPr>
              <a:t>分清楚百分比與百分點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6E9EFB-FDF2-4228-A9F7-1580DC6D2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666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E9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1718F-1F62-4AB2-8E52-64760BBE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9950F1-8A12-4F5B-9545-021014CE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195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能否歸因？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5124CE-F652-4886-AB94-C2B6B5D2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195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7DBE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C7DBEA"/>
                </a:solidFill>
                <a:latin typeface="Noto Sans TC"/>
                <a:ea typeface="Noto Sans TC"/>
                <a:cs typeface="Noto Sans TC"/>
              </a:rPr>
              <a:t>標記證據、假設與限制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34DA3C-D425-4FEA-BFD9-A394B481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666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E9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A08853-EFC2-480D-8FA8-05FD524D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3870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03DF81-D9EC-4A67-9543-B4933E99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3870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下一關是什麼？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05FE75-1FC3-44F5-9ADD-5E34714D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8387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7DBEA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C7DBEA"/>
                </a:solidFill>
                <a:latin typeface="Noto Sans TC"/>
                <a:ea typeface="Noto Sans TC"/>
                <a:cs typeface="Noto Sans TC"/>
              </a:rPr>
              <a:t>設定通過條件與責任角色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6A599B-A5D5-4E6D-B2F1-A3FF2D84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4F7B"/>
          </a:solidFill>
          <a:ln xmlns:a="http://schemas.openxmlformats.org/drawingml/2006/main" w="9525">
            <a:solidFill>
              <a:srgbClr val="2C6E9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23628E-C2D5-4621-AD9D-2A25C67B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這套工作流可以套用到任何有大量內容頁、明確季節性，以及需要同時經營搜尋與AI推薦的網站。</a:t>
            </a:r>
          </a:p>
        </p:txBody>
      </p:sp>
    </p:spTree>
    <p:extLst>
      <p:ext uri="{BB962C8B-B14F-4D97-AF65-F5344CB8AC3E}">
        <p14:creationId xmlns:p14="http://schemas.microsoft.com/office/powerpoint/2010/main" val="15680279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2026-09-04T15:56:11.1280000Z</dcterms:created>
  <dcterms:modified xsi:type="dcterms:W3CDTF">2026-09-04T15:56:11.1280000Z</dcterms:modified>
</coreProperties>
</file>